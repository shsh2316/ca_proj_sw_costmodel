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Central Automation (in-house)</c:v>
                </c:pt>
              </c:strCache>
            </c:strRef>
          </c:tx>
          <c:spPr>
            <a:solidFill>
              <a:srgbClr val="0D5E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2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Live (54)</c:v>
                  </c:pt>
                  <c:pt idx="1">
                    <c:v>In progress (66)</c:v>
                  </c:pt>
                  <c:pt idx="2">
                    <c:v>All 120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</c:v>
                </c:pt>
                <c:pt idx="1">
                  <c:v>22.8</c:v>
                </c:pt>
                <c:pt idx="2">
                  <c:v>43.9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Software company (benchmark)</c:v>
                </c:pt>
              </c:strCache>
            </c:strRef>
          </c:tx>
          <c:spPr>
            <a:solidFill>
              <a:srgbClr val="C98A0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2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Live (54)</c:v>
                  </c:pt>
                  <c:pt idx="1">
                    <c:v>In progress (66)</c:v>
                  </c:pt>
                  <c:pt idx="2">
                    <c:v>All 120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38.5</c:v>
                </c:pt>
                <c:pt idx="1">
                  <c:v>40.1</c:v>
                </c:pt>
                <c:pt idx="2">
                  <c:v>78.6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22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5222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Avoided, ₹ Cr</c:v>
                </c:pt>
              </c:strCache>
            </c:strRef>
          </c:tx>
          <c:spPr>
            <a:solidFill>
              <a:srgbClr val="1F7A4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2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Productivity (39)</c:v>
                  </c:pt>
                  <c:pt idx="1">
                    <c:v>Quality (23)</c:v>
                  </c:pt>
                  <c:pt idx="2">
                    <c:v>Reliability (22)</c:v>
                  </c:pt>
                  <c:pt idx="3">
                    <c:v>Others (21)</c:v>
                  </c:pt>
                  <c:pt idx="4">
                    <c:v>Sustainability (5)</c:v>
                  </c:pt>
                  <c:pt idx="5">
                    <c:v>Workforce optimisation (6)</c:v>
                  </c:pt>
                  <c:pt idx="6">
                    <c:v>HSE and safety (4)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12.6</c:v>
                </c:pt>
                <c:pt idx="1">
                  <c:v>6.6</c:v>
                </c:pt>
                <c:pt idx="2">
                  <c:v>4.7</c:v>
                </c:pt>
                <c:pt idx="3">
                  <c:v>4.1</c:v>
                </c:pt>
                <c:pt idx="4">
                  <c:v>3.6</c:v>
                </c:pt>
                <c:pt idx="5">
                  <c:v>2.1</c:v>
                </c:pt>
                <c:pt idx="6">
                  <c:v>0.9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22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Less effort, %</c:v>
                </c:pt>
              </c:strCache>
            </c:strRef>
          </c:tx>
          <c:spPr>
            <a:solidFill>
              <a:srgbClr val="C98A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2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Shipment assessment</c:v>
                  </c:pt>
                  <c:pt idx="1">
                    <c:v>Non-prime slab identification</c:v>
                  </c:pt>
                  <c:pt idx="2">
                    <c:v>Report preparation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83.3</c:v>
                </c:pt>
                <c:pt idx="1">
                  <c:v>85.7</c:v>
                </c:pt>
                <c:pt idx="2">
                  <c:v>99.2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22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Faster, %</c:v>
                </c:pt>
              </c:strCache>
            </c:strRef>
          </c:tx>
          <c:spPr>
            <a:solidFill>
              <a:srgbClr val="0D5E7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2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Yard Management: 160 minutes → 10 seconds</c:v>
                  </c:pt>
                  <c:pt idx="1">
                    <c:v>Commitment Report: 4 days → 3 minutes</c:v>
                  </c:pt>
                  <c:pt idx="2">
                    <c:v>QRM: 3 days → 1 hour</c:v>
                  </c:pt>
                  <c:pt idx="3">
                    <c:v>CRMS: 5 hours → 1 hour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99.9</c:v>
                </c:pt>
                <c:pt idx="1">
                  <c:v>99.9</c:v>
                </c:pt>
                <c:pt idx="2">
                  <c:v>98.6</c:v>
                </c:pt>
                <c:pt idx="3">
                  <c:v>80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522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min/heat above median</c:v>
                </c:pt>
              </c:strCache>
            </c:strRef>
          </c:tx>
          <c:spPr>
            <a:solidFill>
              <a:srgbClr val="0D5E7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522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Arcing</c:v>
                  </c:pt>
                  <c:pt idx="1">
                    <c:v>Blowing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10.5</c:v>
                </c:pt>
                <c:pt idx="1">
                  <c:v>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522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668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listed projects whose dates overlap Nov 2025 to 29 October 2026, plus every project marked In Progress (dated outside the period, or with no dates); failed projects left out. 2 projects were added by their owners and are counted, but not costed with the estimator. Money = software-company (benchmark) cost minus in-house cost over 3 years, for the listed projects only. FTE = hours / 2,740.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In-house ₹43.88 Cr against ₹78.60 Cr for all 120 listed projects; live ₹21.04 Cr against ₹38.52 Cr; in progress ₹22.84 Cr against ₹40.08 Cr. Derived, not recorded: the project list holds no costs, so each listed project is costed with the estimator's standard assumptions (one person, Senior for AI / ML / vision models else Mid; working days between its dates, 90 if a date is missing; 100 users; default masters; 3 years; full project cost, not pro-rated). Same effort on both sides: the difference is in-house rates, loadings and mark-up against a software company's. It is external price avoided, not cash released. The two stated gains are quoted from the list and are not annualised.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Shipment assessment: 360 min to 60 min = 83.3% less; 36,000 min a year = 600 man-hours (owner's figures); 600 / 2,740 = 0.219 FTE; about 120 shipments a year follows from 36,000 / 300 (derived). Slab identification: 7 man-days to 1 = 6 man-days = 48 h per slab; 57 slabs a year equal 1 FTE. Report preparation: 4 h to 2 min saves about 3.97 h; 691 reports a year equal 1 FTE. In-house effort: 13,783 person-days x 8 h / 2,740 = 40.2 FTE-years.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Turnaround (by task): coil tracing 160 minutes to 10 seconds (99.9% less); commitment report 4 days to 3 minutes (99.9%); quality KPI capture 3 days to 1 hour (98.6%); manpower distribution 5 hours to 1 hour (80%). Output: +70 t/day blast-furnace production, stated by the project. Potential (project in progress): data-driven heat-cycle analysis for September 2026 identifies 25.6 h of recoverable furnace time (about 15 additional heats) by bringing slower heats to the median tap-to-tap time of 79 min; quickest gains are arcing (10.5 min/heat above median) and blowing (7 min/heat above median) in the slowest quarter of heats; aligning the two converters adds about 1.8 h. These are not multiplied up to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739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Automation  |  Benefits of the projects, Nov 2025 to 29 October 2026 and in progress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at a glance: money, FTE, TAT and productivity</a:t>
            </a:r>
            <a:endParaRPr lang="en-US" sz="3000" dirty="0"/>
          </a:p>
        </p:txBody>
      </p:sp>
      <p:sp>
        <p:nvSpPr>
          <p:cNvPr id="3" name="Scope line"/>
          <p:cNvSpPr txBox="1"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2025 to 29 October 2026 and all in progress: 122 projects (54 live and 66 in progress from the project list, and 2 added by their owners).</a:t>
            </a:r>
            <a:endParaRPr lang="en-US" sz="1400" dirty="0"/>
          </a:p>
        </p:txBody>
      </p:sp>
      <p:sp>
        <p:nvSpPr>
          <p:cNvPr id="4" name="Money card"/>
          <p:cNvSpPr/>
          <p:nvPr/>
        </p:nvSpPr>
        <p:spPr>
          <a:xfrm>
            <a:off x="548640" y="1645920"/>
            <a:ext cx="5468112" cy="1920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5" name="Money label"/>
          <p:cNvSpPr txBox="1"/>
          <p:nvPr/>
        </p:nvSpPr>
        <p:spPr>
          <a:xfrm>
            <a:off x="777240" y="17830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200" dirty="0"/>
          </a:p>
        </p:txBody>
      </p:sp>
      <p:sp>
        <p:nvSpPr>
          <p:cNvPr id="6" name="Money DERIVED tag"/>
          <p:cNvSpPr/>
          <p:nvPr/>
        </p:nvSpPr>
        <p:spPr>
          <a:xfrm>
            <a:off x="4965192" y="18013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98A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000" dirty="0"/>
          </a:p>
        </p:txBody>
      </p:sp>
      <p:sp>
        <p:nvSpPr>
          <p:cNvPr id="7" name="Money value"/>
          <p:cNvSpPr txBox="1"/>
          <p:nvPr/>
        </p:nvSpPr>
        <p:spPr>
          <a:xfrm>
            <a:off x="777240" y="210312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₹17.5 Cr avoided</a:t>
            </a:r>
            <a:endParaRPr lang="en-US" sz="3200" dirty="0"/>
          </a:p>
        </p:txBody>
      </p:sp>
      <p:sp>
        <p:nvSpPr>
          <p:cNvPr id="8" name="Money text"/>
          <p:cNvSpPr txBox="1"/>
          <p:nvPr/>
        </p:nvSpPr>
        <p:spPr>
          <a:xfrm>
            <a:off x="777240" y="274320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54 live projects: built in-house for ₹21.0 Cr against ₹38.5 Cr from a software company (45% lower). All 120 listed projects: ₹34.7 Cr (44%).</a:t>
            </a:r>
            <a:endParaRPr lang="en-US" sz="1400" dirty="0"/>
          </a:p>
        </p:txBody>
      </p:sp>
      <p:sp>
        <p:nvSpPr>
          <p:cNvPr id="9" name="FTE card"/>
          <p:cNvSpPr/>
          <p:nvPr/>
        </p:nvSpPr>
        <p:spPr>
          <a:xfrm>
            <a:off x="6144768" y="1645920"/>
            <a:ext cx="5468112" cy="1920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0" name="FTE label"/>
          <p:cNvSpPr txBox="1"/>
          <p:nvPr/>
        </p:nvSpPr>
        <p:spPr>
          <a:xfrm>
            <a:off x="6373368" y="17830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</a:t>
            </a:r>
            <a:endParaRPr lang="en-US" sz="1200" dirty="0"/>
          </a:p>
        </p:txBody>
      </p:sp>
      <p:sp>
        <p:nvSpPr>
          <p:cNvPr id="11" name="FTE STATED tag"/>
          <p:cNvSpPr/>
          <p:nvPr/>
        </p:nvSpPr>
        <p:spPr>
          <a:xfrm>
            <a:off x="10561320" y="18013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sp>
        <p:nvSpPr>
          <p:cNvPr id="12" name="FTE value"/>
          <p:cNvSpPr txBox="1"/>
          <p:nvPr/>
        </p:nvSpPr>
        <p:spPr>
          <a:xfrm>
            <a:off x="6373368" y="210312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man-hours a year</a:t>
            </a:r>
            <a:endParaRPr lang="en-US" sz="3200" dirty="0"/>
          </a:p>
        </p:txBody>
      </p:sp>
      <p:sp>
        <p:nvSpPr>
          <p:cNvPr id="13" name="FTE text"/>
          <p:cNvSpPr txBox="1"/>
          <p:nvPr/>
        </p:nvSpPr>
        <p:spPr>
          <a:xfrm>
            <a:off x="6373368" y="274320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on one project (0.22 FTE at 2,740 h). Other tasks need up to 99.2% less effort: 7 man-days down to 1 man-day; 4-5 hours down to 1-2 minutes.</a:t>
            </a:r>
            <a:endParaRPr lang="en-US" sz="1400" dirty="0"/>
          </a:p>
        </p:txBody>
      </p:sp>
      <p:sp>
        <p:nvSpPr>
          <p:cNvPr id="14" name="TAT card"/>
          <p:cNvSpPr/>
          <p:nvPr/>
        </p:nvSpPr>
        <p:spPr>
          <a:xfrm>
            <a:off x="548640" y="3703320"/>
            <a:ext cx="5468112" cy="1920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5" name="TAT label"/>
          <p:cNvSpPr txBox="1"/>
          <p:nvPr/>
        </p:nvSpPr>
        <p:spPr>
          <a:xfrm>
            <a:off x="777240" y="3840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</a:t>
            </a:r>
            <a:endParaRPr lang="en-US" sz="1200" dirty="0"/>
          </a:p>
        </p:txBody>
      </p:sp>
      <p:sp>
        <p:nvSpPr>
          <p:cNvPr id="16" name="TAT STATED tag"/>
          <p:cNvSpPr/>
          <p:nvPr/>
        </p:nvSpPr>
        <p:spPr>
          <a:xfrm>
            <a:off x="4965192" y="38587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sp>
        <p:nvSpPr>
          <p:cNvPr id="17" name="TAT value"/>
          <p:cNvSpPr txBox="1"/>
          <p:nvPr/>
        </p:nvSpPr>
        <p:spPr>
          <a:xfrm>
            <a:off x="777240" y="416052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99.9% faster</a:t>
            </a:r>
            <a:endParaRPr lang="en-US" sz="3200" dirty="0"/>
          </a:p>
        </p:txBody>
      </p:sp>
      <p:sp>
        <p:nvSpPr>
          <p:cNvPr id="18" name="TAT text"/>
          <p:cNvSpPr txBox="1"/>
          <p:nvPr/>
        </p:nvSpPr>
        <p:spPr>
          <a:xfrm>
            <a:off x="777240" y="480060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 tracing 160 minutes to 10 seconds. Commitment report 4 days to 3 minutes. Quality KPI capture 3 days to 1 hour. Manpower distribution 5 hours to 1 hour.</a:t>
            </a:r>
            <a:endParaRPr lang="en-US" sz="1400" dirty="0"/>
          </a:p>
        </p:txBody>
      </p:sp>
      <p:sp>
        <p:nvSpPr>
          <p:cNvPr id="19" name="Productivity card"/>
          <p:cNvSpPr/>
          <p:nvPr/>
        </p:nvSpPr>
        <p:spPr>
          <a:xfrm>
            <a:off x="6144768" y="3703320"/>
            <a:ext cx="5468112" cy="1920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20" name="Productivity label"/>
          <p:cNvSpPr txBox="1"/>
          <p:nvPr/>
        </p:nvSpPr>
        <p:spPr>
          <a:xfrm>
            <a:off x="6373368" y="384048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200" dirty="0"/>
          </a:p>
        </p:txBody>
      </p:sp>
      <p:sp>
        <p:nvSpPr>
          <p:cNvPr id="21" name="Productivity POTENTIAL tag"/>
          <p:cNvSpPr/>
          <p:nvPr/>
        </p:nvSpPr>
        <p:spPr>
          <a:xfrm>
            <a:off x="10378440" y="3858768"/>
            <a:ext cx="105156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D5E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000" dirty="0"/>
          </a:p>
        </p:txBody>
      </p:sp>
      <p:sp>
        <p:nvSpPr>
          <p:cNvPr id="22" name="Productivity STATED tag"/>
          <p:cNvSpPr/>
          <p:nvPr/>
        </p:nvSpPr>
        <p:spPr>
          <a:xfrm>
            <a:off x="9436608" y="385876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sp>
        <p:nvSpPr>
          <p:cNvPr id="23" name="Productivity value"/>
          <p:cNvSpPr txBox="1"/>
          <p:nvPr/>
        </p:nvSpPr>
        <p:spPr>
          <a:xfrm>
            <a:off x="6373368" y="4160520"/>
            <a:ext cx="5010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 t/day</a:t>
            </a:r>
            <a:endParaRPr lang="en-US" sz="3200" dirty="0"/>
          </a:p>
        </p:txBody>
      </p:sp>
      <p:sp>
        <p:nvSpPr>
          <p:cNvPr id="24" name="Productivity text"/>
          <p:cNvSpPr txBox="1"/>
          <p:nvPr/>
        </p:nvSpPr>
        <p:spPr>
          <a:xfrm>
            <a:off x="6373368" y="4800600"/>
            <a:ext cx="5010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blast-furnace production, and demurrage 30% lower. Potential, from a project still in progress: 25.6 h of furnace time (about 15 more heats) recoverable in a one-month analysis.</a:t>
            </a:r>
            <a:endParaRPr lang="en-US" sz="1400" dirty="0"/>
          </a:p>
        </p:txBody>
      </p:sp>
      <p:sp>
        <p:nvSpPr>
          <p:cNvPr id="25" name="Basis note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= quoted from the project list or given by the project owner. DERIVED = worked out with the estimator's standard costing. POTENTIAL = a project still in progress: what it can give, not what it has given. Money is external cost avoided, not cash released. No rupee gain (Cal-2) is recorded in the list.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live projects avoided ₹17.5 Cr of external cost</a:t>
            </a:r>
            <a:endParaRPr lang="en-US" sz="3000" dirty="0"/>
          </a:p>
        </p:txBody>
      </p:sp>
      <p:sp>
        <p:nvSpPr>
          <p:cNvPr id="3" name="Chart heading"/>
          <p:cNvSpPr txBox="1"/>
          <p:nvPr/>
        </p:nvSpPr>
        <p:spPr>
          <a:xfrm>
            <a:off x="548640" y="1234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 3 years, in-house against a software company, ₹ Cr</a:t>
            </a:r>
            <a:endParaRPr lang="en-US" sz="1500" dirty="0"/>
          </a:p>
        </p:txBody>
      </p:sp>
      <p:graphicFrame>
        <p:nvGraphicFramePr>
          <p:cNvPr id="4" name="Cost chart" descr=""/>
          <p:cNvGraphicFramePr/>
          <p:nvPr/>
        </p:nvGraphicFramePr>
        <p:xfrm>
          <a:off x="548640" y="1600200"/>
          <a:ext cx="57607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Avoided line"/>
          <p:cNvSpPr txBox="1"/>
          <p:nvPr/>
        </p:nvSpPr>
        <p:spPr>
          <a:xfrm>
            <a:off x="548640" y="48463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Avoided:  live ₹17.5 Cr (45%)  ·  in progress ₹17.2 Cr (43%)  ·  all ₹34.7 Cr (44%)</a:t>
            </a:r>
            <a:endParaRPr lang="en-US" sz="1200" dirty="0"/>
          </a:p>
        </p:txBody>
      </p:sp>
      <p:sp>
        <p:nvSpPr>
          <p:cNvPr id="6" name="DERIVED tag"/>
          <p:cNvSpPr/>
          <p:nvPr/>
        </p:nvSpPr>
        <p:spPr>
          <a:xfrm>
            <a:off x="5440680" y="128016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98A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000" dirty="0"/>
          </a:p>
        </p:txBody>
      </p:sp>
      <p:sp>
        <p:nvSpPr>
          <p:cNvPr id="7" name="KPI heading"/>
          <p:cNvSpPr txBox="1"/>
          <p:nvPr/>
        </p:nvSpPr>
        <p:spPr>
          <a:xfrm>
            <a:off x="6583680" y="1234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avoided by business KPI, ₹ Cr (all 120 listed projects)</a:t>
            </a:r>
            <a:endParaRPr lang="en-US" sz="1500" dirty="0"/>
          </a:p>
        </p:txBody>
      </p:sp>
      <p:graphicFrame>
        <p:nvGraphicFramePr>
          <p:cNvPr id="8" name="KPI chart" descr=""/>
          <p:cNvGraphicFramePr/>
          <p:nvPr/>
        </p:nvGraphicFramePr>
        <p:xfrm>
          <a:off x="6583680" y="1600200"/>
          <a:ext cx="50292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Gains heading"/>
          <p:cNvSpPr txBox="1"/>
          <p:nvPr/>
        </p:nvSpPr>
        <p:spPr>
          <a:xfrm>
            <a:off x="548640" y="5212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money gains</a:t>
            </a:r>
            <a:endParaRPr lang="en-US" sz="1500" dirty="0"/>
          </a:p>
        </p:txBody>
      </p:sp>
      <p:sp>
        <p:nvSpPr>
          <p:cNvPr id="10" name="STATED tag"/>
          <p:cNvSpPr/>
          <p:nvPr/>
        </p:nvSpPr>
        <p:spPr>
          <a:xfrm>
            <a:off x="2468880" y="525780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sp>
        <p:nvSpPr>
          <p:cNvPr id="11" name="Cost chip"/>
          <p:cNvSpPr/>
          <p:nvPr/>
        </p:nvSpPr>
        <p:spPr>
          <a:xfrm>
            <a:off x="548640" y="5532120"/>
            <a:ext cx="5440680" cy="777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2" name="Cost value"/>
          <p:cNvSpPr txBox="1"/>
          <p:nvPr/>
        </p:nvSpPr>
        <p:spPr>
          <a:xfrm>
            <a:off x="68580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₹615 / ton</a:t>
            </a:r>
            <a:endParaRPr lang="en-US" sz="2000" dirty="0"/>
          </a:p>
        </p:txBody>
      </p:sp>
      <p:sp>
        <p:nvSpPr>
          <p:cNvPr id="13" name="Cost text"/>
          <p:cNvSpPr txBox="1"/>
          <p:nvPr/>
        </p:nvSpPr>
        <p:spPr>
          <a:xfrm>
            <a:off x="2286000" y="5577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of production, Hazira (C-MARVEL)</a:t>
            </a:r>
            <a:endParaRPr lang="en-US" sz="1200" dirty="0"/>
          </a:p>
        </p:txBody>
      </p:sp>
      <p:sp>
        <p:nvSpPr>
          <p:cNvPr id="14" name="Demurrage chip"/>
          <p:cNvSpPr/>
          <p:nvPr/>
        </p:nvSpPr>
        <p:spPr>
          <a:xfrm>
            <a:off x="6172200" y="5532120"/>
            <a:ext cx="5440680" cy="777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5" name="Demurrage value"/>
          <p:cNvSpPr txBox="1"/>
          <p:nvPr/>
        </p:nvSpPr>
        <p:spPr>
          <a:xfrm>
            <a:off x="6309360" y="55778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lower</a:t>
            </a:r>
            <a:endParaRPr lang="en-US" sz="2000" dirty="0"/>
          </a:p>
        </p:txBody>
      </p:sp>
      <p:sp>
        <p:nvSpPr>
          <p:cNvPr id="16" name="Demurrage text"/>
          <p:cNvSpPr txBox="1"/>
          <p:nvPr/>
        </p:nvSpPr>
        <p:spPr>
          <a:xfrm>
            <a:off x="7909560" y="55778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demurrage, with real-time visibility (Stowage Plan)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FTE: working time saved</a:t>
            </a:r>
            <a:endParaRPr lang="en-US" sz="3000" dirty="0"/>
          </a:p>
        </p:txBody>
      </p:sp>
      <p:sp>
        <p:nvSpPr>
          <p:cNvPr id="3" name="Table heading"/>
          <p:cNvSpPr txBox="1"/>
          <p:nvPr/>
        </p:nvSpPr>
        <p:spPr>
          <a:xfrm>
            <a:off x="548640" y="12344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reductions, each time the task runs</a:t>
            </a:r>
            <a:endParaRPr lang="en-US" sz="1500" dirty="0"/>
          </a:p>
        </p:txBody>
      </p:sp>
      <p:sp>
        <p:nvSpPr>
          <p:cNvPr id="4" name="STATED tag"/>
          <p:cNvSpPr/>
          <p:nvPr/>
        </p:nvSpPr>
        <p:spPr>
          <a:xfrm>
            <a:off x="6355080" y="128016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graphicFrame>
        <p:nvGraphicFramePr>
          <p:cNvPr id="4" name="Effor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45920"/>
                <a:gridCol w="822960"/>
                <a:gridCol w="822960"/>
                <a:gridCol w="86868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FTE equals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5E7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logistics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Shipment assessment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83.3%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 shipments a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Slab Qualification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Non-prime slab identification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man-days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man-day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 slabs a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Byproduct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preparation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hours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1-2 minutes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99.2% 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522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691 reports a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Chart heading"/>
          <p:cNvSpPr txBox="1"/>
          <p:nvPr/>
        </p:nvSpPr>
        <p:spPr>
          <a:xfrm>
            <a:off x="548640" y="36576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effort, %</a:t>
            </a:r>
            <a:endParaRPr lang="en-US" sz="1500" dirty="0"/>
          </a:p>
        </p:txBody>
      </p:sp>
      <p:graphicFrame>
        <p:nvGraphicFramePr>
          <p:cNvPr id="7" name="Effort chart" descr=""/>
          <p:cNvGraphicFramePr/>
          <p:nvPr/>
        </p:nvGraphicFramePr>
        <p:xfrm>
          <a:off x="548640" y="3977640"/>
          <a:ext cx="694944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Hours card"/>
          <p:cNvSpPr/>
          <p:nvPr/>
        </p:nvSpPr>
        <p:spPr>
          <a:xfrm>
            <a:off x="7772400" y="1234440"/>
            <a:ext cx="3840480" cy="224028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9" name="Hours label"/>
          <p:cNvSpPr txBox="1"/>
          <p:nvPr/>
        </p:nvSpPr>
        <p:spPr>
          <a:xfrm>
            <a:off x="800100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SAVED ON ONE PROJECT</a:t>
            </a:r>
            <a:endParaRPr lang="en-US" sz="1200" dirty="0"/>
          </a:p>
        </p:txBody>
      </p:sp>
      <p:sp>
        <p:nvSpPr>
          <p:cNvPr id="10" name="Hours STATED tag"/>
          <p:cNvSpPr/>
          <p:nvPr/>
        </p:nvSpPr>
        <p:spPr>
          <a:xfrm>
            <a:off x="10561320" y="138988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sp>
        <p:nvSpPr>
          <p:cNvPr id="11" name="Hours value"/>
          <p:cNvSpPr txBox="1"/>
          <p:nvPr/>
        </p:nvSpPr>
        <p:spPr>
          <a:xfrm>
            <a:off x="8001000" y="169164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man-hours</a:t>
            </a:r>
            <a:endParaRPr lang="en-US" sz="3200" dirty="0"/>
          </a:p>
        </p:txBody>
      </p:sp>
      <p:sp>
        <p:nvSpPr>
          <p:cNvPr id="12" name="Hours text"/>
          <p:cNvSpPr txBox="1"/>
          <p:nvPr/>
        </p:nvSpPr>
        <p:spPr>
          <a:xfrm>
            <a:off x="8001000" y="233172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36,000 minutes a year. 600 h = 0.22 FTE at 2,740 h per FTE.</a:t>
            </a:r>
            <a:endParaRPr lang="en-US" sz="1400" dirty="0"/>
          </a:p>
        </p:txBody>
      </p:sp>
      <p:sp>
        <p:nvSpPr>
          <p:cNvPr id="13" name="Effort card"/>
          <p:cNvSpPr/>
          <p:nvPr/>
        </p:nvSpPr>
        <p:spPr>
          <a:xfrm>
            <a:off x="7772400" y="3611880"/>
            <a:ext cx="3840480" cy="219456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14" name="Effort label"/>
          <p:cNvSpPr txBox="1"/>
          <p:nvPr/>
        </p:nvSpPr>
        <p:spPr>
          <a:xfrm>
            <a:off x="8001000" y="3749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BUILD EFFORT</a:t>
            </a:r>
            <a:endParaRPr lang="en-US" sz="1200" dirty="0"/>
          </a:p>
        </p:txBody>
      </p:sp>
      <p:sp>
        <p:nvSpPr>
          <p:cNvPr id="15" name="Effort DERIVED tag"/>
          <p:cNvSpPr/>
          <p:nvPr/>
        </p:nvSpPr>
        <p:spPr>
          <a:xfrm>
            <a:off x="10561320" y="3767328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C98A0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</a:t>
            </a:r>
            <a:endParaRPr lang="en-US" sz="1000" dirty="0"/>
          </a:p>
        </p:txBody>
      </p:sp>
      <p:sp>
        <p:nvSpPr>
          <p:cNvPr id="16" name="Effort value"/>
          <p:cNvSpPr txBox="1"/>
          <p:nvPr/>
        </p:nvSpPr>
        <p:spPr>
          <a:xfrm>
            <a:off x="8001000" y="4069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FTE-years</a:t>
            </a:r>
            <a:endParaRPr lang="en-US" sz="3200" dirty="0"/>
          </a:p>
        </p:txBody>
      </p:sp>
      <p:sp>
        <p:nvSpPr>
          <p:cNvPr id="17" name="Effort text"/>
          <p:cNvSpPr txBox="1"/>
          <p:nvPr/>
        </p:nvSpPr>
        <p:spPr>
          <a:xfrm>
            <a:off x="8001000" y="470916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13,783 person-days of 8 hours behind the 120 listed projects. A software company would need the same effort.</a:t>
            </a:r>
            <a:endParaRPr lang="en-US" sz="1400" dirty="0"/>
          </a:p>
        </p:txBody>
      </p:sp>
      <p:sp>
        <p:nvSpPr>
          <p:cNvPr id="18" name="Basis note"/>
          <p:cNvSpPr txBox="1"/>
          <p:nvPr/>
        </p:nvSpPr>
        <p:spPr>
          <a:xfrm>
            <a:off x="548640" y="5897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= people's working time. Man-day = 8 hours; 1 FTE = 2,740 hours a year. "1 FTE equals" = runs a year whose saved time adds up to 2,740 hours. Reductions use the lower figure of a stated range (4-5 h taken as 4 h). The list gives no frequency for slab identification or report preparation, so only the saving per run is stated.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Productivity: faster turnaround, more output</a:t>
            </a:r>
            <a:endParaRPr lang="en-US" sz="3000" dirty="0"/>
          </a:p>
        </p:txBody>
      </p:sp>
      <p:sp>
        <p:nvSpPr>
          <p:cNvPr id="3" name="Chart heading"/>
          <p:cNvSpPr txBox="1"/>
          <p:nvPr/>
        </p:nvSpPr>
        <p:spPr>
          <a:xfrm>
            <a:off x="54864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time, reduction in %</a:t>
            </a:r>
            <a:endParaRPr lang="en-US" sz="1500" dirty="0"/>
          </a:p>
        </p:txBody>
      </p:sp>
      <p:sp>
        <p:nvSpPr>
          <p:cNvPr id="4" name="STATED tag"/>
          <p:cNvSpPr/>
          <p:nvPr/>
        </p:nvSpPr>
        <p:spPr>
          <a:xfrm>
            <a:off x="5394960" y="128016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graphicFrame>
        <p:nvGraphicFramePr>
          <p:cNvPr id="5" name="TAT chart" descr=""/>
          <p:cNvGraphicFramePr/>
          <p:nvPr/>
        </p:nvGraphicFramePr>
        <p:xfrm>
          <a:off x="548640" y="1600200"/>
          <a:ext cx="5852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Output chip"/>
          <p:cNvSpPr/>
          <p:nvPr/>
        </p:nvSpPr>
        <p:spPr>
          <a:xfrm>
            <a:off x="548640" y="4754880"/>
            <a:ext cx="5852160" cy="777240"/>
          </a:xfrm>
          <a:prstGeom prst="rect">
            <a:avLst/>
          </a:prstGeom>
          <a:solidFill>
            <a:srgbClr val="EEF3F5"/>
          </a:solidFill>
          <a:ln w="9525">
            <a:solidFill>
              <a:srgbClr val="D3DBE0"/>
            </a:solidFill>
            <a:prstDash val="solid"/>
          </a:ln>
        </p:spPr>
      </p:sp>
      <p:sp>
        <p:nvSpPr>
          <p:cNvPr id="7" name="Output value"/>
          <p:cNvSpPr txBox="1"/>
          <p:nvPr/>
        </p:nvSpPr>
        <p:spPr>
          <a:xfrm>
            <a:off x="685800" y="480060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 t/day</a:t>
            </a:r>
            <a:endParaRPr lang="en-US" sz="2000" dirty="0"/>
          </a:p>
        </p:txBody>
      </p:sp>
      <p:sp>
        <p:nvSpPr>
          <p:cNvPr id="8" name="Output text"/>
          <p:cNvSpPr txBox="1"/>
          <p:nvPr/>
        </p:nvSpPr>
        <p:spPr>
          <a:xfrm>
            <a:off x="2286000" y="4800600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blast-furnace production from a raw-material optimisation model</a:t>
            </a:r>
            <a:endParaRPr lang="en-US" sz="1200" dirty="0"/>
          </a:p>
        </p:txBody>
      </p:sp>
      <p:sp>
        <p:nvSpPr>
          <p:cNvPr id="9" name="STATED tag"/>
          <p:cNvSpPr/>
          <p:nvPr/>
        </p:nvSpPr>
        <p:spPr>
          <a:xfrm>
            <a:off x="5532120" y="4480560"/>
            <a:ext cx="86868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1F7A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</a:t>
            </a:r>
            <a:endParaRPr lang="en-US" sz="1000" dirty="0"/>
          </a:p>
        </p:txBody>
      </p:sp>
      <p:sp>
        <p:nvSpPr>
          <p:cNvPr id="10" name="Potential panel"/>
          <p:cNvSpPr/>
          <p:nvPr/>
        </p:nvSpPr>
        <p:spPr>
          <a:xfrm>
            <a:off x="6675120" y="1234440"/>
            <a:ext cx="4937760" cy="4297680"/>
          </a:xfrm>
          <a:prstGeom prst="rect">
            <a:avLst/>
          </a:prstGeom>
          <a:solidFill>
            <a:srgbClr val="EEF3F5"/>
          </a:solidFill>
          <a:ln w="15875">
            <a:solidFill>
              <a:srgbClr val="0D5E72"/>
            </a:solidFill>
            <a:prstDash val="dash"/>
          </a:ln>
        </p:spPr>
      </p:sp>
      <p:sp>
        <p:nvSpPr>
          <p:cNvPr id="11" name="Potential heading"/>
          <p:cNvSpPr txBox="1"/>
          <p:nvPr/>
        </p:nvSpPr>
        <p:spPr>
          <a:xfrm>
            <a:off x="6858000" y="1325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Furnace heat cycle: potential</a:t>
            </a:r>
            <a:endParaRPr lang="en-US" sz="1400" dirty="0"/>
          </a:p>
        </p:txBody>
      </p:sp>
      <p:sp>
        <p:nvSpPr>
          <p:cNvPr id="12" name="POTENTIAL tag"/>
          <p:cNvSpPr/>
          <p:nvPr/>
        </p:nvSpPr>
        <p:spPr>
          <a:xfrm>
            <a:off x="10378440" y="1362456"/>
            <a:ext cx="1051560" cy="219456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0D5E7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000" dirty="0"/>
          </a:p>
        </p:txBody>
      </p:sp>
      <p:sp>
        <p:nvSpPr>
          <p:cNvPr id="13" name="Potential period"/>
          <p:cNvSpPr txBox="1"/>
          <p:nvPr/>
        </p:nvSpPr>
        <p:spPr>
          <a:xfrm>
            <a:off x="6858000" y="1664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 progress. Analysis of September 2026 (one month); not yet realised, not annualised.</a:t>
            </a:r>
            <a:endParaRPr lang="en-US" sz="1100" dirty="0"/>
          </a:p>
        </p:txBody>
      </p:sp>
      <p:sp>
        <p:nvSpPr>
          <p:cNvPr id="14" name="Potential value"/>
          <p:cNvSpPr txBox="1"/>
          <p:nvPr/>
        </p:nvSpPr>
        <p:spPr>
          <a:xfrm>
            <a:off x="6858000" y="2148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25.6 h</a:t>
            </a:r>
            <a:endParaRPr lang="en-US" sz="3200" dirty="0"/>
          </a:p>
        </p:txBody>
      </p:sp>
      <p:sp>
        <p:nvSpPr>
          <p:cNvPr id="15" name="Potential text"/>
          <p:cNvSpPr txBox="1"/>
          <p:nvPr/>
        </p:nvSpPr>
        <p:spPr>
          <a:xfrm>
            <a:off x="8503920" y="21031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recoverable furnace time, about 15 additional heats, by bringing slower heats to the 79 min median tap-to-tap time.</a:t>
            </a:r>
            <a:endParaRPr lang="en-US" sz="1200" dirty="0"/>
          </a:p>
        </p:txBody>
      </p:sp>
      <p:sp>
        <p:nvSpPr>
          <p:cNvPr id="16" name="Potential chart heading"/>
          <p:cNvSpPr txBox="1"/>
          <p:nvPr/>
        </p:nvSpPr>
        <p:spPr>
          <a:xfrm>
            <a:off x="6858000" y="29260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the median, slowest quarter of heats (min per heat)</a:t>
            </a:r>
            <a:endParaRPr lang="en-US" sz="1200" dirty="0"/>
          </a:p>
        </p:txBody>
      </p:sp>
      <p:graphicFrame>
        <p:nvGraphicFramePr>
          <p:cNvPr id="17" name="Potential chart" descr=""/>
          <p:cNvGraphicFramePr/>
          <p:nvPr/>
        </p:nvGraphicFramePr>
        <p:xfrm>
          <a:off x="6766560" y="3154680"/>
          <a:ext cx="47548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8" name="Potential converter"/>
          <p:cNvSpPr txBox="1"/>
          <p:nvPr/>
        </p:nvSpPr>
        <p:spPr>
          <a:xfrm>
            <a:off x="685800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52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the two converters adds about 1.8 h more furnace time.</a:t>
            </a:r>
            <a:endParaRPr lang="en-US" sz="1200" dirty="0"/>
          </a:p>
        </p:txBody>
      </p:sp>
      <p:sp>
        <p:nvSpPr>
          <p:cNvPr id="19" name="Basis note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66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 = elapsed time (a day is taken as 24 hours). A TAT reduction is not converted to FTE or rupees: the project list gives no frequency. The heat-cycle figures are what the analysis shows is recoverable, from one month, for a project that is still in progress: they are a potential, not a result.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73952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Benefits of the projects, Nov 2025 to 29 October 2026</dc:title>
  <dc:subject>PptxGenJS Presentation</dc:subject>
  <dc:creator>Central Automation</dc:creator>
  <cp:lastModifiedBy>Central Automation</cp:lastModifiedBy>
  <cp:revision>1</cp:revision>
  <dcterms:created xsi:type="dcterms:W3CDTF">2026-10-29T02:45:53Z</dcterms:created>
  <dcterms:modified xsi:type="dcterms:W3CDTF">2026-10-29T02:45:53Z</dcterms:modified>
</cp:coreProperties>
</file>