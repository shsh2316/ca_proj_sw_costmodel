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Central Automation (in-house)</c:v>
                </c:pt>
              </c:strCache>
            </c:strRef>
          </c:tx>
          <c:spPr>
            <a:solidFill>
              <a:srgbClr val="0D5E7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522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Live (54)</c:v>
                  </c:pt>
                  <c:pt idx="1">
                    <c:v>In progress (66)</c:v>
                  </c:pt>
                  <c:pt idx="2">
                    <c:v>All 120 listed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21</c:v>
                </c:pt>
                <c:pt idx="1">
                  <c:v>22.8</c:v>
                </c:pt>
                <c:pt idx="2">
                  <c:v>43.9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Software company (benchmark)</c:v>
                </c:pt>
              </c:strCache>
            </c:strRef>
          </c:tx>
          <c:spPr>
            <a:solidFill>
              <a:srgbClr val="C98A0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522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Live (54)</c:v>
                  </c:pt>
                  <c:pt idx="1">
                    <c:v>In progress (66)</c:v>
                  </c:pt>
                  <c:pt idx="2">
                    <c:v>All 120 listed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38.5</c:v>
                </c:pt>
                <c:pt idx="1">
                  <c:v>40.1</c:v>
                </c:pt>
                <c:pt idx="2">
                  <c:v>78.6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522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668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668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5222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Less effort, %</c:v>
                </c:pt>
              </c:strCache>
            </c:strRef>
          </c:tx>
          <c:spPr>
            <a:solidFill>
              <a:srgbClr val="C98A0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522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Paradeep: assessment per shipment</c:v>
                  </c:pt>
                  <c:pt idx="1">
                    <c:v>Slab identification</c:v>
                  </c:pt>
                  <c:pt idx="2">
                    <c:v>Report preparation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83.3</c:v>
                </c:pt>
                <c:pt idx="1">
                  <c:v>85.7</c:v>
                </c:pt>
                <c:pt idx="2">
                  <c:v>99.2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522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668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668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Faster, %</c:v>
                </c:pt>
              </c:strCache>
            </c:strRef>
          </c:tx>
          <c:spPr>
            <a:solidFill>
              <a:srgbClr val="0D5E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522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Coil tracing: 160 min → 10 s</c:v>
                  </c:pt>
                  <c:pt idx="1">
                    <c:v>SCM commitment report: 4 days → 3 min</c:v>
                  </c:pt>
                  <c:pt idx="2">
                    <c:v>Quality KPI capture: 3 days → 1 h</c:v>
                  </c:pt>
                  <c:pt idx="3">
                    <c:v>Manpower distribution: 5 h → 1 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99.9</c:v>
                </c:pt>
                <c:pt idx="1">
                  <c:v>99.9</c:v>
                </c:pt>
                <c:pt idx="2">
                  <c:v>98.6</c:v>
                </c:pt>
                <c:pt idx="3">
                  <c:v>80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522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668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668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min/heat above median</c:v>
                </c:pt>
              </c:strCache>
            </c:strRef>
          </c:tx>
          <c:spPr>
            <a:solidFill>
              <a:srgbClr val="C98A0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522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Arcing</c:v>
                  </c:pt>
                  <c:pt idx="1">
                    <c:v>Blowing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10.5</c:v>
                </c:pt>
                <c:pt idx="1">
                  <c:v>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522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668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668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Scope: listed projects whose dates overlap Nov 2025 to 29 October 2026, plus every project marked In Progress (dated outside the period, or with no dates); failed projects left out. 2 projects were added by the owners and are counted but not costed with the estimator (SMP2 gave no cost, Paradeep gave its actual cost). Money = benchmark (software company) cost minus in-house cost over 3 years, for the listed projects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In-house ₹43.88 Cr against ₹78.60 Cr for all 120 listed projects; live ₹21.04 Cr against ₹38.52 Cr; in progress ₹22.84 Cr against ₹40.08 Cr. Paradeep Ports: cost ₹17.0 L as given by the owner; 600 h / 8 = 75 man-days x 6,000 (Mid rate in the masters) = ₹4.5 L a year; payback 3.78 years. This is a simple payback on time value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Paradeep Ports: manual assessment per shipment 360 min to 60 min = 83.3% less; 36,000 min a year = 600 man-hours (owner's figures). 600 / 2,740 = 0.219 FTE. Slab: 7 man-days to 1 = 6 man-days = 48 h saved per slab; 57 slabs a year equal 1 FTE. Report preparation: 4 h to 2 min saves about 3.97 h; 691 reports a year equal 1 FTE.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SMP2 Digital Transformation (September 2026): data-driven heat-cycle analysis identifies 25.6 h of recoverable furnace time (about 15 additional heats) by bringing slower heats to the median tap-to-tap time of 79 min. Quickest gains: blowing 7.0 min/heat and arcing 10.5 min/heat above the median in the slowest quarter of heats. Aligning Conarc3 to Conarc2 adds about 1.8 h. TAT reductions: coil tracing 160 min to 10 s; SCM commitment report 4 days to 3 min; quality KPI capture 3 days to 1 h; manpower distribution 5 h to 1 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 files: database/tools/derive_ca_projects_deck.js (figures), ca_projects_extra.json (the two added projects), build_hod_benefits_deck.js (this deck).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7395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Automation  |  Benefits of the projects, Nov 2025 to 29 October 2026 and in progress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of 122 projects: money, FTE, TAT and productivity</a:t>
            </a:r>
            <a:endParaRPr lang="en-US" sz="3000" dirty="0"/>
          </a:p>
        </p:txBody>
      </p:sp>
      <p:sp>
        <p:nvSpPr>
          <p:cNvPr id="3" name="Scope line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2025 to 29 October 2026 and all in progress: 120 listed projects (54 live, 66 in progress) and 2 added by the owners (SMP2 Digital Transformation, Paradeep Ports).</a:t>
            </a:r>
            <a:endParaRPr lang="en-US" sz="1400" dirty="0"/>
          </a:p>
        </p:txBody>
      </p:sp>
      <p:sp>
        <p:nvSpPr>
          <p:cNvPr id="4" name="Money card"/>
          <p:cNvSpPr/>
          <p:nvPr/>
        </p:nvSpPr>
        <p:spPr>
          <a:xfrm>
            <a:off x="548640" y="1645920"/>
            <a:ext cx="5468112" cy="1920240"/>
          </a:xfrm>
          <a:prstGeom prst="rect">
            <a:avLst/>
          </a:prstGeom>
          <a:solidFill>
            <a:srgbClr val="EEF3F5"/>
          </a:solidFill>
          <a:ln w="9525">
            <a:solidFill>
              <a:srgbClr val="D3DBE0"/>
            </a:solidFill>
            <a:prstDash val="solid"/>
          </a:ln>
        </p:spPr>
      </p:sp>
      <p:sp>
        <p:nvSpPr>
          <p:cNvPr id="5" name="Money label"/>
          <p:cNvSpPr txBox="1"/>
          <p:nvPr/>
        </p:nvSpPr>
        <p:spPr>
          <a:xfrm>
            <a:off x="777240" y="178308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66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</a:t>
            </a:r>
            <a:endParaRPr lang="en-US" sz="1200" dirty="0"/>
          </a:p>
        </p:txBody>
      </p:sp>
      <p:sp>
        <p:nvSpPr>
          <p:cNvPr id="6" name="Money tag"/>
          <p:cNvSpPr/>
          <p:nvPr/>
        </p:nvSpPr>
        <p:spPr>
          <a:xfrm>
            <a:off x="4919472" y="1801368"/>
            <a:ext cx="86868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98A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5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</a:t>
            </a:r>
            <a:endParaRPr lang="en-US" sz="1000" dirty="0"/>
          </a:p>
        </p:txBody>
      </p:sp>
      <p:sp>
        <p:nvSpPr>
          <p:cNvPr id="7" name="Money value"/>
          <p:cNvSpPr txBox="1"/>
          <p:nvPr/>
        </p:nvSpPr>
        <p:spPr>
          <a:xfrm>
            <a:off x="777240" y="2103120"/>
            <a:ext cx="5010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5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₹17.5 Cr avoided</a:t>
            </a:r>
            <a:endParaRPr lang="en-US" sz="3200" dirty="0"/>
          </a:p>
        </p:txBody>
      </p:sp>
      <p:sp>
        <p:nvSpPr>
          <p:cNvPr id="8" name="Money text"/>
          <p:cNvSpPr txBox="1"/>
          <p:nvPr/>
        </p:nvSpPr>
        <p:spPr>
          <a:xfrm>
            <a:off x="777240" y="2743200"/>
            <a:ext cx="5010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54 live listed projects: built in-house for ₹21.0 Cr against ₹38.5 Cr from a software company (45% lower). All 120 listed: ₹34.7 Cr (44%).</a:t>
            </a:r>
            <a:endParaRPr lang="en-US" sz="1400" dirty="0"/>
          </a:p>
        </p:txBody>
      </p:sp>
      <p:sp>
        <p:nvSpPr>
          <p:cNvPr id="9" name="FTE card"/>
          <p:cNvSpPr/>
          <p:nvPr/>
        </p:nvSpPr>
        <p:spPr>
          <a:xfrm>
            <a:off x="6144768" y="1645920"/>
            <a:ext cx="5468112" cy="1920240"/>
          </a:xfrm>
          <a:prstGeom prst="rect">
            <a:avLst/>
          </a:prstGeom>
          <a:solidFill>
            <a:srgbClr val="EEF3F5"/>
          </a:solidFill>
          <a:ln w="9525">
            <a:solidFill>
              <a:srgbClr val="D3DBE0"/>
            </a:solidFill>
            <a:prstDash val="solid"/>
          </a:ln>
        </p:spPr>
      </p:sp>
      <p:sp>
        <p:nvSpPr>
          <p:cNvPr id="10" name="FTE label"/>
          <p:cNvSpPr txBox="1"/>
          <p:nvPr/>
        </p:nvSpPr>
        <p:spPr>
          <a:xfrm>
            <a:off x="6373368" y="178308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66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FTE</a:t>
            </a:r>
            <a:endParaRPr lang="en-US" sz="1200" dirty="0"/>
          </a:p>
        </p:txBody>
      </p:sp>
      <p:sp>
        <p:nvSpPr>
          <p:cNvPr id="11" name="FTE tag"/>
          <p:cNvSpPr/>
          <p:nvPr/>
        </p:nvSpPr>
        <p:spPr>
          <a:xfrm>
            <a:off x="10515600" y="1801368"/>
            <a:ext cx="86868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1F7A4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</a:t>
            </a:r>
            <a:endParaRPr lang="en-US" sz="1000" dirty="0"/>
          </a:p>
        </p:txBody>
      </p:sp>
      <p:sp>
        <p:nvSpPr>
          <p:cNvPr id="12" name="FTE value"/>
          <p:cNvSpPr txBox="1"/>
          <p:nvPr/>
        </p:nvSpPr>
        <p:spPr>
          <a:xfrm>
            <a:off x="6373368" y="2103120"/>
            <a:ext cx="5010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5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man-hours a year</a:t>
            </a:r>
            <a:endParaRPr lang="en-US" sz="3200" dirty="0"/>
          </a:p>
        </p:txBody>
      </p:sp>
      <p:sp>
        <p:nvSpPr>
          <p:cNvPr id="13" name="FTE text"/>
          <p:cNvSpPr txBox="1"/>
          <p:nvPr/>
        </p:nvSpPr>
        <p:spPr>
          <a:xfrm>
            <a:off x="6373368" y="2743200"/>
            <a:ext cx="5010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Paradeep Ports: 0.22 FTE (at 2,740 h). Slab identification 7 man-days down to 1 man-day; report preparation up to 99.2% less effort.</a:t>
            </a:r>
            <a:endParaRPr lang="en-US" sz="1400" dirty="0"/>
          </a:p>
        </p:txBody>
      </p:sp>
      <p:sp>
        <p:nvSpPr>
          <p:cNvPr id="14" name="TAT card"/>
          <p:cNvSpPr/>
          <p:nvPr/>
        </p:nvSpPr>
        <p:spPr>
          <a:xfrm>
            <a:off x="548640" y="3703320"/>
            <a:ext cx="5468112" cy="1920240"/>
          </a:xfrm>
          <a:prstGeom prst="rect">
            <a:avLst/>
          </a:prstGeom>
          <a:solidFill>
            <a:srgbClr val="EEF3F5"/>
          </a:solidFill>
          <a:ln w="9525">
            <a:solidFill>
              <a:srgbClr val="D3DBE0"/>
            </a:solidFill>
            <a:prstDash val="solid"/>
          </a:ln>
        </p:spPr>
      </p:sp>
      <p:sp>
        <p:nvSpPr>
          <p:cNvPr id="15" name="TAT label"/>
          <p:cNvSpPr txBox="1"/>
          <p:nvPr/>
        </p:nvSpPr>
        <p:spPr>
          <a:xfrm>
            <a:off x="777240" y="384048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66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</a:t>
            </a:r>
            <a:endParaRPr lang="en-US" sz="1200" dirty="0"/>
          </a:p>
        </p:txBody>
      </p:sp>
      <p:sp>
        <p:nvSpPr>
          <p:cNvPr id="16" name="TAT tag"/>
          <p:cNvSpPr/>
          <p:nvPr/>
        </p:nvSpPr>
        <p:spPr>
          <a:xfrm>
            <a:off x="4919472" y="3858768"/>
            <a:ext cx="86868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1F7A4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</a:t>
            </a:r>
            <a:endParaRPr lang="en-US" sz="1000" dirty="0"/>
          </a:p>
        </p:txBody>
      </p:sp>
      <p:sp>
        <p:nvSpPr>
          <p:cNvPr id="17" name="TAT value"/>
          <p:cNvSpPr txBox="1"/>
          <p:nvPr/>
        </p:nvSpPr>
        <p:spPr>
          <a:xfrm>
            <a:off x="777240" y="4160520"/>
            <a:ext cx="5010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5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99.9% faster</a:t>
            </a:r>
            <a:endParaRPr lang="en-US" sz="3200" dirty="0"/>
          </a:p>
        </p:txBody>
      </p:sp>
      <p:sp>
        <p:nvSpPr>
          <p:cNvPr id="18" name="TAT text"/>
          <p:cNvSpPr txBox="1"/>
          <p:nvPr/>
        </p:nvSpPr>
        <p:spPr>
          <a:xfrm>
            <a:off x="777240" y="4800600"/>
            <a:ext cx="5010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Coil tracing 160 minutes to 10 seconds. SCM commitment report 4 days to 3 minutes. Quality KPI capture 3 days to 1 hour. Manpower distribution 5 hours to 1 hour.</a:t>
            </a:r>
            <a:endParaRPr lang="en-US" sz="1400" dirty="0"/>
          </a:p>
        </p:txBody>
      </p:sp>
      <p:sp>
        <p:nvSpPr>
          <p:cNvPr id="19" name="Productivity card"/>
          <p:cNvSpPr/>
          <p:nvPr/>
        </p:nvSpPr>
        <p:spPr>
          <a:xfrm>
            <a:off x="6144768" y="3703320"/>
            <a:ext cx="5468112" cy="1920240"/>
          </a:xfrm>
          <a:prstGeom prst="rect">
            <a:avLst/>
          </a:prstGeom>
          <a:solidFill>
            <a:srgbClr val="EEF3F5"/>
          </a:solidFill>
          <a:ln w="9525">
            <a:solidFill>
              <a:srgbClr val="D3DBE0"/>
            </a:solidFill>
            <a:prstDash val="solid"/>
          </a:ln>
        </p:spPr>
      </p:sp>
      <p:sp>
        <p:nvSpPr>
          <p:cNvPr id="20" name="Productivity label"/>
          <p:cNvSpPr txBox="1"/>
          <p:nvPr/>
        </p:nvSpPr>
        <p:spPr>
          <a:xfrm>
            <a:off x="6373368" y="384048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66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PRODUCTIVITY</a:t>
            </a:r>
            <a:endParaRPr lang="en-US" sz="1200" dirty="0"/>
          </a:p>
        </p:txBody>
      </p:sp>
      <p:sp>
        <p:nvSpPr>
          <p:cNvPr id="21" name="Productivity tag"/>
          <p:cNvSpPr/>
          <p:nvPr/>
        </p:nvSpPr>
        <p:spPr>
          <a:xfrm>
            <a:off x="10515600" y="3858768"/>
            <a:ext cx="86868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1F7A4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</a:t>
            </a:r>
            <a:endParaRPr lang="en-US" sz="1000" dirty="0"/>
          </a:p>
        </p:txBody>
      </p:sp>
      <p:sp>
        <p:nvSpPr>
          <p:cNvPr id="22" name="Productivity value"/>
          <p:cNvSpPr txBox="1"/>
          <p:nvPr/>
        </p:nvSpPr>
        <p:spPr>
          <a:xfrm>
            <a:off x="6373368" y="4160520"/>
            <a:ext cx="5010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5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more heats a month</a:t>
            </a:r>
            <a:endParaRPr lang="en-US" sz="3200" dirty="0"/>
          </a:p>
        </p:txBody>
      </p:sp>
      <p:sp>
        <p:nvSpPr>
          <p:cNvPr id="23" name="Productivity text"/>
          <p:cNvSpPr txBox="1"/>
          <p:nvPr/>
        </p:nvSpPr>
        <p:spPr>
          <a:xfrm>
            <a:off x="6373368" y="4800600"/>
            <a:ext cx="5010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SMP2: 25.6 h of furnace time recoverable in September 2026 (one month). C-MARVEL: +70 t/day blast-furnace production, ₹615 per ton lower cost. Stowage Plan: demurrage 30% lower.</a:t>
            </a:r>
            <a:endParaRPr lang="en-US" sz="1400" dirty="0"/>
          </a:p>
        </p:txBody>
      </p:sp>
      <p:sp>
        <p:nvSpPr>
          <p:cNvPr id="24" name="Basis note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= quoted from the project list or given by the project owner. DERIVED = worked out with the estimator's standard costing or the masters' rates. Money is external cost avoided, not cash released. The project cost of Paradeep Ports (₹17 L) is an investment, not a saving.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Money: live projects avoided ₹17.5 Cr of external cost</a:t>
            </a:r>
            <a:endParaRPr lang="en-US" sz="3000" dirty="0"/>
          </a:p>
        </p:txBody>
      </p:sp>
      <p:sp>
        <p:nvSpPr>
          <p:cNvPr id="3" name="Chart heading"/>
          <p:cNvSpPr txBox="1"/>
          <p:nvPr/>
        </p:nvSpPr>
        <p:spPr>
          <a:xfrm>
            <a:off x="548640" y="123444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over 3 years, in-house against a software company, ₹ Cr</a:t>
            </a:r>
            <a:endParaRPr lang="en-US" sz="1500" dirty="0"/>
          </a:p>
        </p:txBody>
      </p:sp>
      <p:sp>
        <p:nvSpPr>
          <p:cNvPr id="4" name="DERIVED tag"/>
          <p:cNvSpPr/>
          <p:nvPr/>
        </p:nvSpPr>
        <p:spPr>
          <a:xfrm>
            <a:off x="6355080" y="1280160"/>
            <a:ext cx="86868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98A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5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</a:t>
            </a:r>
            <a:endParaRPr lang="en-US" sz="1000" dirty="0"/>
          </a:p>
        </p:txBody>
      </p:sp>
      <p:graphicFrame>
        <p:nvGraphicFramePr>
          <p:cNvPr id="5" name="Cost chart" descr=""/>
          <p:cNvGraphicFramePr/>
          <p:nvPr/>
        </p:nvGraphicFramePr>
        <p:xfrm>
          <a:off x="548640" y="1600200"/>
          <a:ext cx="66751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Avoided line"/>
          <p:cNvSpPr txBox="1"/>
          <p:nvPr/>
        </p:nvSpPr>
        <p:spPr>
          <a:xfrm>
            <a:off x="548640" y="544068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Avoided:  live ₹17.5 Cr (45%)   ·   in progress ₹17.2 Cr (43%)   ·   all ₹34.7 Cr (44%)</a:t>
            </a:r>
            <a:endParaRPr lang="en-US" sz="1200" dirty="0"/>
          </a:p>
        </p:txBody>
      </p:sp>
      <p:sp>
        <p:nvSpPr>
          <p:cNvPr id="7" name="All card"/>
          <p:cNvSpPr/>
          <p:nvPr/>
        </p:nvSpPr>
        <p:spPr>
          <a:xfrm>
            <a:off x="7589520" y="1234440"/>
            <a:ext cx="4023360" cy="1600200"/>
          </a:xfrm>
          <a:prstGeom prst="rect">
            <a:avLst/>
          </a:prstGeom>
          <a:solidFill>
            <a:srgbClr val="EEF3F5"/>
          </a:solidFill>
          <a:ln w="9525">
            <a:solidFill>
              <a:srgbClr val="D3DBE0"/>
            </a:solidFill>
            <a:prstDash val="solid"/>
          </a:ln>
        </p:spPr>
      </p:sp>
      <p:sp>
        <p:nvSpPr>
          <p:cNvPr id="8" name="All label"/>
          <p:cNvSpPr txBox="1"/>
          <p:nvPr/>
        </p:nvSpPr>
        <p:spPr>
          <a:xfrm>
            <a:off x="781812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66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120 LISTED PROJECTS</a:t>
            </a:r>
            <a:endParaRPr lang="en-US" sz="1200" dirty="0"/>
          </a:p>
        </p:txBody>
      </p:sp>
      <p:sp>
        <p:nvSpPr>
          <p:cNvPr id="9" name="All tag"/>
          <p:cNvSpPr/>
          <p:nvPr/>
        </p:nvSpPr>
        <p:spPr>
          <a:xfrm>
            <a:off x="10515600" y="1389888"/>
            <a:ext cx="86868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98A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5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</a:t>
            </a:r>
            <a:endParaRPr lang="en-US" sz="1000" dirty="0"/>
          </a:p>
        </p:txBody>
      </p:sp>
      <p:sp>
        <p:nvSpPr>
          <p:cNvPr id="10" name="All value"/>
          <p:cNvSpPr txBox="1"/>
          <p:nvPr/>
        </p:nvSpPr>
        <p:spPr>
          <a:xfrm>
            <a:off x="7818120" y="169164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5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₹34.7 Cr</a:t>
            </a:r>
            <a:endParaRPr lang="en-US" sz="3200" dirty="0"/>
          </a:p>
        </p:txBody>
      </p:sp>
      <p:sp>
        <p:nvSpPr>
          <p:cNvPr id="11" name="All text"/>
          <p:cNvSpPr txBox="1"/>
          <p:nvPr/>
        </p:nvSpPr>
        <p:spPr>
          <a:xfrm>
            <a:off x="7818120" y="2331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below a software company; 13,783 person-days either way.</a:t>
            </a:r>
            <a:endParaRPr lang="en-US" sz="1400" dirty="0"/>
          </a:p>
        </p:txBody>
      </p:sp>
      <p:sp>
        <p:nvSpPr>
          <p:cNvPr id="12" name="Paradeep box"/>
          <p:cNvSpPr/>
          <p:nvPr/>
        </p:nvSpPr>
        <p:spPr>
          <a:xfrm>
            <a:off x="7589520" y="3017520"/>
            <a:ext cx="4023360" cy="2697480"/>
          </a:xfrm>
          <a:prstGeom prst="rect">
            <a:avLst/>
          </a:prstGeom>
          <a:solidFill>
            <a:srgbClr val="FFF8E6"/>
          </a:solidFill>
          <a:ln w="12700">
            <a:solidFill>
              <a:srgbClr val="E4B33E"/>
            </a:solidFill>
            <a:prstDash val="solid"/>
          </a:ln>
        </p:spPr>
      </p:sp>
      <p:sp>
        <p:nvSpPr>
          <p:cNvPr id="13" name="Paradeep heading"/>
          <p:cNvSpPr txBox="1"/>
          <p:nvPr/>
        </p:nvSpPr>
        <p:spPr>
          <a:xfrm>
            <a:off x="7772400" y="31089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project: Paradeep Ports</a:t>
            </a:r>
            <a:endParaRPr lang="en-US" sz="1400" dirty="0"/>
          </a:p>
        </p:txBody>
      </p:sp>
      <p:sp>
        <p:nvSpPr>
          <p:cNvPr id="14" name="Paradeep Project cost"/>
          <p:cNvSpPr txBox="1"/>
          <p:nvPr/>
        </p:nvSpPr>
        <p:spPr>
          <a:xfrm>
            <a:off x="7772400" y="345643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cost, the investment (STATED)</a:t>
            </a:r>
            <a:endParaRPr lang="en-US" sz="1200" dirty="0"/>
          </a:p>
        </p:txBody>
      </p:sp>
      <p:sp>
        <p:nvSpPr>
          <p:cNvPr id="15" name="Paradeep value Project "/>
          <p:cNvSpPr txBox="1"/>
          <p:nvPr/>
        </p:nvSpPr>
        <p:spPr>
          <a:xfrm>
            <a:off x="10058400" y="345643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D5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₹17.0 L</a:t>
            </a:r>
            <a:endParaRPr lang="en-US" sz="1400" dirty="0"/>
          </a:p>
        </p:txBody>
      </p:sp>
      <p:sp>
        <p:nvSpPr>
          <p:cNvPr id="16" name="Paradeep Time saved: "/>
          <p:cNvSpPr txBox="1"/>
          <p:nvPr/>
        </p:nvSpPr>
        <p:spPr>
          <a:xfrm>
            <a:off x="7772400" y="391363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saved: 600 man-hours = 75 man-days a year (STATED)</a:t>
            </a:r>
            <a:endParaRPr lang="en-US" sz="1200" dirty="0"/>
          </a:p>
        </p:txBody>
      </p:sp>
      <p:sp>
        <p:nvSpPr>
          <p:cNvPr id="17" name="Paradeep value Time sav"/>
          <p:cNvSpPr txBox="1"/>
          <p:nvPr/>
        </p:nvSpPr>
        <p:spPr>
          <a:xfrm>
            <a:off x="10058400" y="391363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D5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days</a:t>
            </a:r>
            <a:endParaRPr lang="en-US" sz="1400" dirty="0"/>
          </a:p>
        </p:txBody>
      </p:sp>
      <p:sp>
        <p:nvSpPr>
          <p:cNvPr id="18" name="Paradeep Worth at the"/>
          <p:cNvSpPr txBox="1"/>
          <p:nvPr/>
        </p:nvSpPr>
        <p:spPr>
          <a:xfrm>
            <a:off x="7772400" y="437083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at the ₹6,000 Mid man-day rate (DERIVED)</a:t>
            </a:r>
            <a:endParaRPr lang="en-US" sz="1200" dirty="0"/>
          </a:p>
        </p:txBody>
      </p:sp>
      <p:sp>
        <p:nvSpPr>
          <p:cNvPr id="19" name="Paradeep value Worth at"/>
          <p:cNvSpPr txBox="1"/>
          <p:nvPr/>
        </p:nvSpPr>
        <p:spPr>
          <a:xfrm>
            <a:off x="10058400" y="437083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D5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₹4.5 L a year</a:t>
            </a:r>
            <a:endParaRPr lang="en-US" sz="1400" dirty="0"/>
          </a:p>
        </p:txBody>
      </p:sp>
      <p:sp>
        <p:nvSpPr>
          <p:cNvPr id="20" name="Paradeep Simple payba"/>
          <p:cNvSpPr txBox="1"/>
          <p:nvPr/>
        </p:nvSpPr>
        <p:spPr>
          <a:xfrm>
            <a:off x="7772400" y="482803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payback (DERIVED)</a:t>
            </a:r>
            <a:endParaRPr lang="en-US" sz="1200" dirty="0"/>
          </a:p>
        </p:txBody>
      </p:sp>
      <p:sp>
        <p:nvSpPr>
          <p:cNvPr id="21" name="Paradeep value Simple p"/>
          <p:cNvSpPr txBox="1"/>
          <p:nvPr/>
        </p:nvSpPr>
        <p:spPr>
          <a:xfrm>
            <a:off x="10058400" y="482803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D5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3.8 years</a:t>
            </a:r>
            <a:endParaRPr lang="en-US" sz="1400" dirty="0"/>
          </a:p>
        </p:txBody>
      </p:sp>
      <p:sp>
        <p:nvSpPr>
          <p:cNvPr id="22" name="Paradeep caution"/>
          <p:cNvSpPr txBox="1"/>
          <p:nvPr/>
        </p:nvSpPr>
        <p:spPr>
          <a:xfrm>
            <a:off x="7772400" y="5321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₹17 L is what the project cost, not a saving.</a:t>
            </a:r>
            <a:endParaRPr lang="en-US" sz="1100" dirty="0"/>
          </a:p>
        </p:txBody>
      </p:sp>
      <p:sp>
        <p:nvSpPr>
          <p:cNvPr id="23" name="Basis note"/>
          <p:cNvSpPr txBox="1"/>
          <p:nvPr/>
        </p:nvSpPr>
        <p:spPr>
          <a:xfrm>
            <a:off x="548640" y="58978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Derived, not recorded: the project list holds no costs, so each listed project is costed with the estimator's standard assumptions (one person, Senior for AI / ML / vision models else Mid; working days between its dates, 90 if a date is missing; default masters; 3 years). Same effort on both sides: the difference is in-house rates, loadings and mark-up against a software company's. SMP2 gave no cost and is not in these totals.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FTE and effort: working time saved</a:t>
            </a:r>
            <a:endParaRPr lang="en-US" sz="3000" dirty="0"/>
          </a:p>
        </p:txBody>
      </p:sp>
      <p:sp>
        <p:nvSpPr>
          <p:cNvPr id="3" name="Table heading"/>
          <p:cNvSpPr txBox="1"/>
          <p:nvPr/>
        </p:nvSpPr>
        <p:spPr>
          <a:xfrm>
            <a:off x="548640" y="123444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reductions, each time the task runs</a:t>
            </a:r>
            <a:endParaRPr lang="en-US" sz="1500" dirty="0"/>
          </a:p>
        </p:txBody>
      </p:sp>
      <p:sp>
        <p:nvSpPr>
          <p:cNvPr id="4" name="STATED tag"/>
          <p:cNvSpPr/>
          <p:nvPr/>
        </p:nvSpPr>
        <p:spPr>
          <a:xfrm>
            <a:off x="6355080" y="1280160"/>
            <a:ext cx="86868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1F7A4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</a:t>
            </a:r>
            <a:endParaRPr lang="en-US" sz="1000" dirty="0"/>
          </a:p>
        </p:txBody>
      </p:sp>
      <p:graphicFrame>
        <p:nvGraphicFramePr>
          <p:cNvPr id="4" name="Effor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9494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645920"/>
                <a:gridCol w="822960"/>
                <a:gridCol w="822960"/>
                <a:gridCol w="86868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5E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5E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5E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5E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5E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FTE equals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5E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22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Paradeep Ports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22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assessment per shipment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22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22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7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 less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22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548 shipments a year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22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Slab Qualification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22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Non-prime slab identification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22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man-days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22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man-day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7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85.7% less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22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slabs a year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22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Byproduct Management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22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preparation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22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4-5 hours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22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1-2 minutes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7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99.2% less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22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691 reports a year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hart heading"/>
          <p:cNvSpPr txBox="1"/>
          <p:nvPr/>
        </p:nvSpPr>
        <p:spPr>
          <a:xfrm>
            <a:off x="548640" y="36576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in effort, %</a:t>
            </a:r>
            <a:endParaRPr lang="en-US" sz="1500" dirty="0"/>
          </a:p>
        </p:txBody>
      </p:sp>
      <p:graphicFrame>
        <p:nvGraphicFramePr>
          <p:cNvPr id="7" name="Effort chart" descr=""/>
          <p:cNvGraphicFramePr/>
          <p:nvPr/>
        </p:nvGraphicFramePr>
        <p:xfrm>
          <a:off x="548640" y="3977640"/>
          <a:ext cx="685800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Paradeep card"/>
          <p:cNvSpPr/>
          <p:nvPr/>
        </p:nvSpPr>
        <p:spPr>
          <a:xfrm>
            <a:off x="7772400" y="1234440"/>
            <a:ext cx="3840480" cy="2240280"/>
          </a:xfrm>
          <a:prstGeom prst="rect">
            <a:avLst/>
          </a:prstGeom>
          <a:solidFill>
            <a:srgbClr val="EEF3F5"/>
          </a:solidFill>
          <a:ln w="9525">
            <a:solidFill>
              <a:srgbClr val="D3DBE0"/>
            </a:solidFill>
            <a:prstDash val="solid"/>
          </a:ln>
        </p:spPr>
      </p:sp>
      <p:sp>
        <p:nvSpPr>
          <p:cNvPr id="9" name="Paradeep label"/>
          <p:cNvSpPr txBox="1"/>
          <p:nvPr/>
        </p:nvSpPr>
        <p:spPr>
          <a:xfrm>
            <a:off x="8001000" y="1371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66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PARADEEP PORTS, PER YEAR</a:t>
            </a:r>
            <a:endParaRPr lang="en-US" sz="1200" dirty="0"/>
          </a:p>
        </p:txBody>
      </p:sp>
      <p:sp>
        <p:nvSpPr>
          <p:cNvPr id="10" name="Paradeep tag"/>
          <p:cNvSpPr/>
          <p:nvPr/>
        </p:nvSpPr>
        <p:spPr>
          <a:xfrm>
            <a:off x="10515600" y="1389888"/>
            <a:ext cx="86868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1F7A4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</a:t>
            </a:r>
            <a:endParaRPr lang="en-US" sz="1000" dirty="0"/>
          </a:p>
        </p:txBody>
      </p:sp>
      <p:sp>
        <p:nvSpPr>
          <p:cNvPr id="11" name="Paradeep value"/>
          <p:cNvSpPr txBox="1"/>
          <p:nvPr/>
        </p:nvSpPr>
        <p:spPr>
          <a:xfrm>
            <a:off x="8001000" y="169164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5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man-hours</a:t>
            </a:r>
            <a:endParaRPr lang="en-US" sz="3200" dirty="0"/>
          </a:p>
        </p:txBody>
      </p:sp>
      <p:sp>
        <p:nvSpPr>
          <p:cNvPr id="12" name="Paradeep text"/>
          <p:cNvSpPr txBox="1"/>
          <p:nvPr/>
        </p:nvSpPr>
        <p:spPr>
          <a:xfrm>
            <a:off x="8001000" y="233172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36,000 minutes saved a year. 600 h = 0.22 FTE at 2,740 h per FTE.</a:t>
            </a:r>
            <a:endParaRPr lang="en-US" sz="1400" dirty="0"/>
          </a:p>
        </p:txBody>
      </p:sp>
      <p:sp>
        <p:nvSpPr>
          <p:cNvPr id="13" name="Reading card"/>
          <p:cNvSpPr/>
          <p:nvPr/>
        </p:nvSpPr>
        <p:spPr>
          <a:xfrm>
            <a:off x="7772400" y="3657600"/>
            <a:ext cx="3840480" cy="2103120"/>
          </a:xfrm>
          <a:prstGeom prst="rect">
            <a:avLst/>
          </a:prstGeom>
          <a:solidFill>
            <a:srgbClr val="EEF3F5"/>
          </a:solidFill>
          <a:ln w="9525">
            <a:solidFill>
              <a:srgbClr val="D3DBE0"/>
            </a:solidFill>
            <a:prstDash val="solid"/>
          </a:ln>
        </p:spPr>
      </p:sp>
      <p:sp>
        <p:nvSpPr>
          <p:cNvPr id="14" name="Reading text"/>
          <p:cNvSpPr txBox="1"/>
          <p:nvPr/>
        </p:nvSpPr>
        <p:spPr>
          <a:xfrm>
            <a:off x="7909560" y="3749040"/>
            <a:ext cx="3566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this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and FTE are the owner's figures; FTE = hours / 2,740.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120 shipments a year follows from 36,000 min / 300 min saved each (DERIVED).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"1 FTE equals" = runs a year whose saved time adds up to 2,740 h.</a:t>
            </a:r>
            <a:endParaRPr lang="en-US" sz="1200" dirty="0"/>
          </a:p>
        </p:txBody>
      </p:sp>
      <p:sp>
        <p:nvSpPr>
          <p:cNvPr id="15" name="Basis note"/>
          <p:cNvSpPr txBox="1"/>
          <p:nvPr/>
        </p:nvSpPr>
        <p:spPr>
          <a:xfrm>
            <a:off x="548640" y="58978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= people's working time. Man-day = 8 hours; 1 FTE = 2,740 hours a year. Reductions use the lower figure of a stated range (report preparation 4-5 h taken as 4 h). The project list gives no frequency for slab identification or report preparation, so only the per-run saving is stated.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 and productivity: faster turnaround, more output</a:t>
            </a:r>
            <a:endParaRPr lang="en-US" sz="3000" dirty="0"/>
          </a:p>
        </p:txBody>
      </p:sp>
      <p:sp>
        <p:nvSpPr>
          <p:cNvPr id="3" name="Chart heading"/>
          <p:cNvSpPr txBox="1"/>
          <p:nvPr/>
        </p:nvSpPr>
        <p:spPr>
          <a:xfrm>
            <a:off x="548640" y="1234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Turnaround time, reduction in %</a:t>
            </a:r>
            <a:endParaRPr lang="en-US" sz="1500" dirty="0"/>
          </a:p>
        </p:txBody>
      </p:sp>
      <p:sp>
        <p:nvSpPr>
          <p:cNvPr id="4" name="STATED tag"/>
          <p:cNvSpPr/>
          <p:nvPr/>
        </p:nvSpPr>
        <p:spPr>
          <a:xfrm>
            <a:off x="5166360" y="1280160"/>
            <a:ext cx="86868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1F7A4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</a:t>
            </a:r>
            <a:endParaRPr lang="en-US" sz="1000" dirty="0"/>
          </a:p>
        </p:txBody>
      </p:sp>
      <p:graphicFrame>
        <p:nvGraphicFramePr>
          <p:cNvPr id="5" name="TAT chart" descr=""/>
          <p:cNvGraphicFramePr/>
          <p:nvPr/>
        </p:nvGraphicFramePr>
        <p:xfrm>
          <a:off x="548640" y="1600200"/>
          <a:ext cx="56692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MP2 panel"/>
          <p:cNvSpPr/>
          <p:nvPr/>
        </p:nvSpPr>
        <p:spPr>
          <a:xfrm>
            <a:off x="6492240" y="1234440"/>
            <a:ext cx="5120640" cy="3291840"/>
          </a:xfrm>
          <a:prstGeom prst="rect">
            <a:avLst/>
          </a:prstGeom>
          <a:solidFill>
            <a:srgbClr val="EEF3F5"/>
          </a:solidFill>
          <a:ln w="9525">
            <a:solidFill>
              <a:srgbClr val="D3DBE0"/>
            </a:solidFill>
            <a:prstDash val="solid"/>
          </a:ln>
        </p:spPr>
      </p:sp>
      <p:sp>
        <p:nvSpPr>
          <p:cNvPr id="7" name="SMP2 heading"/>
          <p:cNvSpPr txBox="1"/>
          <p:nvPr/>
        </p:nvSpPr>
        <p:spPr>
          <a:xfrm>
            <a:off x="667512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SMP2 Digital Transformation, Hazira Operations</a:t>
            </a:r>
            <a:endParaRPr lang="en-US" sz="1400" dirty="0"/>
          </a:p>
        </p:txBody>
      </p:sp>
      <p:sp>
        <p:nvSpPr>
          <p:cNvPr id="8" name="STATED tag"/>
          <p:cNvSpPr/>
          <p:nvPr/>
        </p:nvSpPr>
        <p:spPr>
          <a:xfrm>
            <a:off x="10607040" y="1353312"/>
            <a:ext cx="86868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1F7A4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</a:t>
            </a:r>
            <a:endParaRPr lang="en-US" sz="1000" dirty="0"/>
          </a:p>
        </p:txBody>
      </p:sp>
      <p:sp>
        <p:nvSpPr>
          <p:cNvPr id="9" name="SMP2 period"/>
          <p:cNvSpPr txBox="1"/>
          <p:nvPr/>
        </p:nvSpPr>
        <p:spPr>
          <a:xfrm>
            <a:off x="6675120" y="1627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 figures: one month, not annualised</a:t>
            </a:r>
            <a:endParaRPr lang="en-US" sz="1100" dirty="0"/>
          </a:p>
        </p:txBody>
      </p:sp>
      <p:sp>
        <p:nvSpPr>
          <p:cNvPr id="10" name="SMP2 value"/>
          <p:cNvSpPr txBox="1"/>
          <p:nvPr/>
        </p:nvSpPr>
        <p:spPr>
          <a:xfrm>
            <a:off x="6675120" y="190195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5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25.6 h</a:t>
            </a:r>
            <a:endParaRPr lang="en-US" sz="3200" dirty="0"/>
          </a:p>
        </p:txBody>
      </p:sp>
      <p:sp>
        <p:nvSpPr>
          <p:cNvPr id="11" name="SMP2 text"/>
          <p:cNvSpPr txBox="1"/>
          <p:nvPr/>
        </p:nvSpPr>
        <p:spPr>
          <a:xfrm>
            <a:off x="8458200" y="18745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recoverable furnace time, about 15 additional heats, by bringing slower heats to the 79 min median tap-to-tap time.</a:t>
            </a:r>
            <a:endParaRPr lang="en-US" sz="1200" dirty="0"/>
          </a:p>
        </p:txBody>
      </p:sp>
      <p:sp>
        <p:nvSpPr>
          <p:cNvPr id="12" name="SMP2 chart heading"/>
          <p:cNvSpPr txBox="1"/>
          <p:nvPr/>
        </p:nvSpPr>
        <p:spPr>
          <a:xfrm>
            <a:off x="6675120" y="26060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the median, slowest quarter of heats (min per heat)</a:t>
            </a:r>
            <a:endParaRPr lang="en-US" sz="1200" dirty="0"/>
          </a:p>
        </p:txBody>
      </p:sp>
      <p:graphicFrame>
        <p:nvGraphicFramePr>
          <p:cNvPr id="13" name="SMP2 chart" descr=""/>
          <p:cNvGraphicFramePr/>
          <p:nvPr/>
        </p:nvGraphicFramePr>
        <p:xfrm>
          <a:off x="6583680" y="2834640"/>
          <a:ext cx="4937760" cy="1097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SMP2 Conarc"/>
          <p:cNvSpPr txBox="1"/>
          <p:nvPr/>
        </p:nvSpPr>
        <p:spPr>
          <a:xfrm>
            <a:off x="6675120" y="4023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Aligning Conarc3 to Conarc2 adds about 1.8 h more furnace time.</a:t>
            </a:r>
            <a:endParaRPr lang="en-US" sz="1200" dirty="0"/>
          </a:p>
        </p:txBody>
      </p:sp>
      <p:sp>
        <p:nvSpPr>
          <p:cNvPr id="15" name="Productivity heading"/>
          <p:cNvSpPr txBox="1"/>
          <p:nvPr/>
        </p:nvSpPr>
        <p:spPr>
          <a:xfrm>
            <a:off x="548640" y="4663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productivity gains</a:t>
            </a:r>
            <a:endParaRPr lang="en-US" sz="1500" dirty="0"/>
          </a:p>
        </p:txBody>
      </p:sp>
      <p:sp>
        <p:nvSpPr>
          <p:cNvPr id="16" name="STATED tag"/>
          <p:cNvSpPr/>
          <p:nvPr/>
        </p:nvSpPr>
        <p:spPr>
          <a:xfrm>
            <a:off x="3017520" y="4709160"/>
            <a:ext cx="86868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1F7A4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</a:t>
            </a:r>
            <a:endParaRPr lang="en-US" sz="1000" dirty="0"/>
          </a:p>
        </p:txBody>
      </p:sp>
      <p:sp>
        <p:nvSpPr>
          <p:cNvPr id="17" name="Chip 1"/>
          <p:cNvSpPr/>
          <p:nvPr/>
        </p:nvSpPr>
        <p:spPr>
          <a:xfrm>
            <a:off x="548640" y="5029200"/>
            <a:ext cx="3611880" cy="777240"/>
          </a:xfrm>
          <a:prstGeom prst="rect">
            <a:avLst/>
          </a:prstGeom>
          <a:solidFill>
            <a:srgbClr val="EEF3F5"/>
          </a:solidFill>
          <a:ln w="9525">
            <a:solidFill>
              <a:srgbClr val="D3DBE0"/>
            </a:solidFill>
            <a:prstDash val="solid"/>
          </a:ln>
        </p:spPr>
      </p:sp>
      <p:sp>
        <p:nvSpPr>
          <p:cNvPr id="18" name="Chip value 1"/>
          <p:cNvSpPr txBox="1"/>
          <p:nvPr/>
        </p:nvSpPr>
        <p:spPr>
          <a:xfrm>
            <a:off x="685800" y="50749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5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+70 t/day</a:t>
            </a:r>
            <a:endParaRPr lang="en-US" sz="1800" dirty="0"/>
          </a:p>
        </p:txBody>
      </p:sp>
      <p:sp>
        <p:nvSpPr>
          <p:cNvPr id="19" name="Chip text 1"/>
          <p:cNvSpPr txBox="1"/>
          <p:nvPr/>
        </p:nvSpPr>
        <p:spPr>
          <a:xfrm>
            <a:off x="2148840" y="50749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blast-furnace production (C-MARVEL)</a:t>
            </a:r>
            <a:endParaRPr lang="en-US" sz="1200" dirty="0"/>
          </a:p>
        </p:txBody>
      </p:sp>
      <p:sp>
        <p:nvSpPr>
          <p:cNvPr id="20" name="Chip 2"/>
          <p:cNvSpPr/>
          <p:nvPr/>
        </p:nvSpPr>
        <p:spPr>
          <a:xfrm>
            <a:off x="4297680" y="5029200"/>
            <a:ext cx="3611880" cy="777240"/>
          </a:xfrm>
          <a:prstGeom prst="rect">
            <a:avLst/>
          </a:prstGeom>
          <a:solidFill>
            <a:srgbClr val="EEF3F5"/>
          </a:solidFill>
          <a:ln w="9525">
            <a:solidFill>
              <a:srgbClr val="D3DBE0"/>
            </a:solidFill>
            <a:prstDash val="solid"/>
          </a:ln>
        </p:spPr>
      </p:sp>
      <p:sp>
        <p:nvSpPr>
          <p:cNvPr id="21" name="Chip value 2"/>
          <p:cNvSpPr txBox="1"/>
          <p:nvPr/>
        </p:nvSpPr>
        <p:spPr>
          <a:xfrm>
            <a:off x="4434840" y="50749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5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₹615 / ton</a:t>
            </a:r>
            <a:endParaRPr lang="en-US" sz="1800" dirty="0"/>
          </a:p>
        </p:txBody>
      </p:sp>
      <p:sp>
        <p:nvSpPr>
          <p:cNvPr id="22" name="Chip text 2"/>
          <p:cNvSpPr txBox="1"/>
          <p:nvPr/>
        </p:nvSpPr>
        <p:spPr>
          <a:xfrm>
            <a:off x="5897880" y="50749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cost of production, Hazira (C-MARVEL)</a:t>
            </a:r>
            <a:endParaRPr lang="en-US" sz="1200" dirty="0"/>
          </a:p>
        </p:txBody>
      </p:sp>
      <p:sp>
        <p:nvSpPr>
          <p:cNvPr id="23" name="Chip 3"/>
          <p:cNvSpPr/>
          <p:nvPr/>
        </p:nvSpPr>
        <p:spPr>
          <a:xfrm>
            <a:off x="8046720" y="5029200"/>
            <a:ext cx="3611880" cy="777240"/>
          </a:xfrm>
          <a:prstGeom prst="rect">
            <a:avLst/>
          </a:prstGeom>
          <a:solidFill>
            <a:srgbClr val="EEF3F5"/>
          </a:solidFill>
          <a:ln w="9525">
            <a:solidFill>
              <a:srgbClr val="D3DBE0"/>
            </a:solidFill>
            <a:prstDash val="solid"/>
          </a:ln>
        </p:spPr>
      </p:sp>
      <p:sp>
        <p:nvSpPr>
          <p:cNvPr id="24" name="Chip value 3"/>
          <p:cNvSpPr txBox="1"/>
          <p:nvPr/>
        </p:nvSpPr>
        <p:spPr>
          <a:xfrm>
            <a:off x="8183880" y="50749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5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lower</a:t>
            </a:r>
            <a:endParaRPr lang="en-US" sz="1800" dirty="0"/>
          </a:p>
        </p:txBody>
      </p:sp>
      <p:sp>
        <p:nvSpPr>
          <p:cNvPr id="25" name="Chip text 3"/>
          <p:cNvSpPr txBox="1"/>
          <p:nvPr/>
        </p:nvSpPr>
        <p:spPr>
          <a:xfrm>
            <a:off x="9646920" y="50749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demurrage with real-time visibility (Stowage Plan)</a:t>
            </a:r>
            <a:endParaRPr lang="en-US" sz="1200" dirty="0"/>
          </a:p>
        </p:txBody>
      </p:sp>
      <p:sp>
        <p:nvSpPr>
          <p:cNvPr id="26" name="Basis note"/>
          <p:cNvSpPr txBox="1"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 = elapsed time (a day is taken as 24 hours). A TAT reduction is not converted to FTE or rupees: the project list gives no frequency. SMP2's figures are for September 2026 as given by the owner and are not multiplied up to a year.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stated, what is derived, and what is still missing</a:t>
            </a:r>
            <a:endParaRPr lang="en-US" sz="3000" dirty="0"/>
          </a:p>
        </p:txBody>
      </p:sp>
      <p:sp>
        <p:nvSpPr>
          <p:cNvPr id="3" name="STATED card"/>
          <p:cNvSpPr/>
          <p:nvPr/>
        </p:nvSpPr>
        <p:spPr>
          <a:xfrm>
            <a:off x="548640" y="1280160"/>
            <a:ext cx="3611880" cy="3246120"/>
          </a:xfrm>
          <a:prstGeom prst="rect">
            <a:avLst/>
          </a:prstGeom>
          <a:solidFill>
            <a:srgbClr val="EEF3F5"/>
          </a:solidFill>
          <a:ln w="9525">
            <a:solidFill>
              <a:srgbClr val="D3DBE0"/>
            </a:solidFill>
            <a:prstDash val="solid"/>
          </a:ln>
        </p:spPr>
      </p:sp>
      <p:sp>
        <p:nvSpPr>
          <p:cNvPr id="4" name="STATED heading"/>
          <p:cNvSpPr txBox="1"/>
          <p:nvPr/>
        </p:nvSpPr>
        <p:spPr>
          <a:xfrm>
            <a:off x="731520" y="13716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</a:t>
            </a:r>
            <a:endParaRPr lang="en-US" sz="1400" dirty="0"/>
          </a:p>
        </p:txBody>
      </p:sp>
      <p:sp>
        <p:nvSpPr>
          <p:cNvPr id="5" name="STATED text"/>
          <p:cNvSpPr txBox="1"/>
          <p:nvPr/>
        </p:nvSpPr>
        <p:spPr>
          <a:xfrm>
            <a:off x="731520" y="1737360"/>
            <a:ext cx="32461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and after figures quoted from the project list: 10 figures from 9 project entries.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Paradeep Ports and SMP2 Digital Transformation, as given by their owners (not in the July list).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saved, TAT, heats and tons: as written, never multiplied up.</a:t>
            </a:r>
            <a:endParaRPr lang="en-US" sz="1300" dirty="0"/>
          </a:p>
        </p:txBody>
      </p:sp>
      <p:sp>
        <p:nvSpPr>
          <p:cNvPr id="6" name="DERIVED card"/>
          <p:cNvSpPr/>
          <p:nvPr/>
        </p:nvSpPr>
        <p:spPr>
          <a:xfrm>
            <a:off x="4297680" y="1280160"/>
            <a:ext cx="3611880" cy="3246120"/>
          </a:xfrm>
          <a:prstGeom prst="rect">
            <a:avLst/>
          </a:prstGeom>
          <a:solidFill>
            <a:srgbClr val="EEF3F5"/>
          </a:solidFill>
          <a:ln w="9525">
            <a:solidFill>
              <a:srgbClr val="D3DBE0"/>
            </a:solidFill>
            <a:prstDash val="solid"/>
          </a:ln>
        </p:spPr>
      </p:sp>
      <p:sp>
        <p:nvSpPr>
          <p:cNvPr id="7" name="DERIVED heading"/>
          <p:cNvSpPr txBox="1"/>
          <p:nvPr/>
        </p:nvSpPr>
        <p:spPr>
          <a:xfrm>
            <a:off x="4480560" y="13716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</a:t>
            </a:r>
            <a:endParaRPr lang="en-US" sz="1400" dirty="0"/>
          </a:p>
        </p:txBody>
      </p:sp>
      <p:sp>
        <p:nvSpPr>
          <p:cNvPr id="8" name="DERIVED text"/>
          <p:cNvSpPr txBox="1"/>
          <p:nvPr/>
        </p:nvSpPr>
        <p:spPr>
          <a:xfrm>
            <a:off x="4480560" y="1737360"/>
            <a:ext cx="32461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the 120 listed projects with the estimator's standard costing (one person, working days between dates, default masters, 3 years).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Avoided cost = software-company price minus in-house cost.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FTE = hours / 2,740. Paradeep's ₹ value and payback use the ₹6,000 Mid man-day rate.</a:t>
            </a:r>
            <a:endParaRPr lang="en-US" sz="1300" dirty="0"/>
          </a:p>
        </p:txBody>
      </p:sp>
      <p:sp>
        <p:nvSpPr>
          <p:cNvPr id="9" name="STILL MISSING card"/>
          <p:cNvSpPr/>
          <p:nvPr/>
        </p:nvSpPr>
        <p:spPr>
          <a:xfrm>
            <a:off x="8046720" y="1280160"/>
            <a:ext cx="3611880" cy="3246120"/>
          </a:xfrm>
          <a:prstGeom prst="rect">
            <a:avLst/>
          </a:prstGeom>
          <a:solidFill>
            <a:srgbClr val="EEF3F5"/>
          </a:solidFill>
          <a:ln w="9525">
            <a:solidFill>
              <a:srgbClr val="D3DBE0"/>
            </a:solidFill>
            <a:prstDash val="solid"/>
          </a:ln>
        </p:spPr>
      </p:sp>
      <p:sp>
        <p:nvSpPr>
          <p:cNvPr id="10" name="STILL MISSING heading"/>
          <p:cNvSpPr txBox="1"/>
          <p:nvPr/>
        </p:nvSpPr>
        <p:spPr>
          <a:xfrm>
            <a:off x="8229600" y="13716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4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MISSING</a:t>
            </a:r>
            <a:endParaRPr lang="en-US" sz="1400" dirty="0"/>
          </a:p>
        </p:txBody>
      </p:sp>
      <p:sp>
        <p:nvSpPr>
          <p:cNvPr id="11" name="STILL MISSING text"/>
          <p:cNvSpPr txBox="1"/>
          <p:nvPr/>
        </p:nvSpPr>
        <p:spPr>
          <a:xfrm>
            <a:off x="8229600" y="1737360"/>
            <a:ext cx="32461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rupee gain (Cal-2) is recorded for these projects; Efforts Saving (man-hours) is empty.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of 120 listed projects have no benefit text at all.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SMP2 has no cost, and no yearly figure (September only). The status of both added projects was not given: treated as live.</a:t>
            </a:r>
            <a:endParaRPr lang="en-US" sz="1300" dirty="0"/>
          </a:p>
        </p:txBody>
      </p:sp>
      <p:sp>
        <p:nvSpPr>
          <p:cNvPr id="12" name="Ask card"/>
          <p:cNvSpPr/>
          <p:nvPr/>
        </p:nvSpPr>
        <p:spPr>
          <a:xfrm>
            <a:off x="548640" y="4663440"/>
            <a:ext cx="11064240" cy="1097280"/>
          </a:xfrm>
          <a:prstGeom prst="rect">
            <a:avLst/>
          </a:prstGeom>
          <a:solidFill>
            <a:srgbClr val="FFF8E6"/>
          </a:solidFill>
          <a:ln w="12700">
            <a:solidFill>
              <a:srgbClr val="E4B33E"/>
            </a:solidFill>
            <a:prstDash val="solid"/>
          </a:ln>
        </p:spPr>
      </p:sp>
      <p:sp>
        <p:nvSpPr>
          <p:cNvPr id="13" name="Ask text"/>
          <p:cNvSpPr txBox="1"/>
          <p:nvPr/>
        </p:nvSpPr>
        <p:spPr>
          <a:xfrm>
            <a:off x="731520" y="4736592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these into yearly ₹, FTE and TAT totals, ask each project owner for one number: how often the task runs (shipments a year, reports a day, heats a month).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saved time x runs per year x cost per hour. Money here is an avoided external price, not cash released; a project cost is an investment, not a saving.</a:t>
            </a:r>
            <a:endParaRPr lang="en-US" sz="1300" dirty="0"/>
          </a:p>
        </p:txBody>
      </p:sp>
      <p:sp>
        <p:nvSpPr>
          <p:cNvPr id="14" name="Basis note"/>
          <p:cNvSpPr txBox="1"/>
          <p:nvPr/>
        </p:nvSpPr>
        <p:spPr>
          <a:xfrm>
            <a:off x="548640" y="58978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listed projects whose dates overlap Nov 2025 to 29 October 2026, plus every project marked In Progress; 70 of 190 listed projects left out (dated outside the period and not in progress, no dates and not in progress, or failed). Source: CA_Projects_List_As_of_July_2026.xlsx and the owners' notes of 29 October 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Benefits of the projects, Nov 2025 to 29 October 2026</dc:title>
  <dc:subject>PptxGenJS Presentation</dc:subject>
  <dc:creator>Central Automation</dc:creator>
  <cp:lastModifiedBy>Central Automation</cp:lastModifiedBy>
  <cp:revision>1</cp:revision>
  <dcterms:created xsi:type="dcterms:W3CDTF">2026-10-29T02:20:20Z</dcterms:created>
  <dcterms:modified xsi:type="dcterms:W3CDTF">2026-10-29T02:20:20Z</dcterms:modified>
</cp:coreProperties>
</file>