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st" id="{079ccb3a-0264-425d-4f0b-b7688c2169bd}">
          <p14:sldIdLst>
            <p14:sldId id="256"/>
          </p14:sldIdLst>
        </p14:section>
        <p14:section name="Man power saving" id="{186fc6a5-7cf6-d867-6e66-0f2ee44d6ca6}">
          <p14:sldIdLst>
            <p14:sldId id="257"/>
          </p14:sldIdLst>
        </p14:section>
        <p14:section name="Benefits" id="{ba6b3852-42d5-5024-f1e3-ab66df2fb733}">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Central Automation (in-house)</c:v>
                </c:pt>
              </c:strCache>
            </c:strRef>
          </c:tx>
          <c:spPr>
            <a:solidFill>
              <a:srgbClr val="0D5E72"/>
            </a:solidFill>
            <a:effectLst/>
          </c:spPr>
          <c:invertIfNegative val="0"/>
          <c:dLbls>
            <c:numFmt formatCode="0.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cat>
            <c:multiLvlStrRef>
              <c:f>Sheet1!$A$2:$A$8</c:f>
              <c:multiLvlStrCache>
                <c:ptCount val="7"/>
                <c:lvl>
                  <c:pt idx="0">
                    <c:v>Productivity</c:v>
                  </c:pt>
                  <c:pt idx="1">
                    <c:v>Quality</c:v>
                  </c:pt>
                  <c:pt idx="2">
                    <c:v>Reliability</c:v>
                  </c:pt>
                  <c:pt idx="3">
                    <c:v>Others</c:v>
                  </c:pt>
                  <c:pt idx="4">
                    <c:v>Sustainability</c:v>
                  </c:pt>
                  <c:pt idx="5">
                    <c:v>Workforce optimisation</c:v>
                  </c:pt>
                  <c:pt idx="6">
                    <c:v>HSE and safety</c:v>
                  </c:pt>
                </c:lvl>
              </c:multiLvlStrCache>
            </c:multiLvlStrRef>
          </c:cat>
          <c:val>
            <c:numRef>
              <c:f>Sheet1!$B$2:$B$8</c:f>
              <c:numCache>
                <c:formatCode>General</c:formatCode>
                <c:ptCount val="7"/>
                <c:pt idx="0">
                  <c:v>15.2</c:v>
                </c:pt>
                <c:pt idx="1">
                  <c:v>8.4</c:v>
                </c:pt>
                <c:pt idx="2">
                  <c:v>6.9</c:v>
                </c:pt>
                <c:pt idx="3">
                  <c:v>6.4</c:v>
                </c:pt>
                <c:pt idx="4">
                  <c:v>3.3</c:v>
                </c:pt>
                <c:pt idx="5">
                  <c:v>2.5</c:v>
                </c:pt>
                <c:pt idx="6">
                  <c:v>1.3</c:v>
                </c:pt>
              </c:numCache>
            </c:numRef>
          </c:val>
        </c:ser>
        <c:ser>
          <c:idx val="1"/>
          <c:order val="1"/>
          <c:tx>
            <c:strRef>
              <c:f>Sheet1!$C$1</c:f>
              <c:strCache>
                <c:ptCount val="1"/>
                <c:pt idx="0">
                  <c:v>Software company (benchmark)</c:v>
                </c:pt>
              </c:strCache>
            </c:strRef>
          </c:tx>
          <c:spPr>
            <a:solidFill>
              <a:srgbClr val="C98A00"/>
            </a:solidFill>
            <a:effectLst/>
          </c:spPr>
          <c:invertIfNegative val="0"/>
          <c:dLbls>
            <c:numFmt formatCode="0.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cat>
            <c:multiLvlStrRef>
              <c:f>Sheet1!$A$2:$A$8</c:f>
              <c:multiLvlStrCache>
                <c:ptCount val="7"/>
                <c:lvl>
                  <c:pt idx="0">
                    <c:v>Productivity</c:v>
                  </c:pt>
                  <c:pt idx="1">
                    <c:v>Quality</c:v>
                  </c:pt>
                  <c:pt idx="2">
                    <c:v>Reliability</c:v>
                  </c:pt>
                  <c:pt idx="3">
                    <c:v>Others</c:v>
                  </c:pt>
                  <c:pt idx="4">
                    <c:v>Sustainability</c:v>
                  </c:pt>
                  <c:pt idx="5">
                    <c:v>Workforce optimisation</c:v>
                  </c:pt>
                  <c:pt idx="6">
                    <c:v>HSE and safety</c:v>
                  </c:pt>
                </c:lvl>
              </c:multiLvlStrCache>
            </c:multiLvlStrRef>
          </c:cat>
          <c:val>
            <c:numRef>
              <c:f>Sheet1!$C$2:$C$8</c:f>
              <c:numCache>
                <c:formatCode>General</c:formatCode>
                <c:ptCount val="7"/>
                <c:pt idx="0">
                  <c:v>27.8</c:v>
                </c:pt>
                <c:pt idx="1">
                  <c:v>15</c:v>
                </c:pt>
                <c:pt idx="2">
                  <c:v>11.6</c:v>
                </c:pt>
                <c:pt idx="3">
                  <c:v>10.5</c:v>
                </c:pt>
                <c:pt idx="4">
                  <c:v>6.9</c:v>
                </c:pt>
                <c:pt idx="5">
                  <c:v>4.6</c:v>
                </c:pt>
                <c:pt idx="6">
                  <c:v>2.1</c:v>
                </c:pt>
              </c:numCache>
            </c:numRef>
          </c:val>
        </c:ser>
        <c:dLbls>
          <c:numFmt formatCode="0.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87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87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Central Automation (in-house)</c:v>
                </c:pt>
              </c:strCache>
            </c:strRef>
          </c:tx>
          <c:spPr>
            <a:solidFill>
              <a:srgbClr val="0D5E72"/>
            </a:solidFill>
            <a:effectLst/>
          </c:spPr>
          <c:invertIfNegative val="0"/>
          <c:dLbls>
            <c:numFmt formatCode="0.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cat>
            <c:multiLvlStrRef>
              <c:f>Sheet1!$A$2:$A$4</c:f>
              <c:multiLvlStrCache>
                <c:ptCount val="3"/>
                <c:lvl>
                  <c:pt idx="0">
                    <c:v>Manpower, loaded</c:v>
                  </c:pt>
                  <c:pt idx="1">
                    <c:v>One-time cost</c:v>
                  </c:pt>
                  <c:pt idx="2">
                    <c:v>Total over 3 years</c:v>
                  </c:pt>
                </c:lvl>
              </c:multiLvlStrCache>
            </c:multiLvlStrRef>
          </c:cat>
          <c:val>
            <c:numRef>
              <c:f>Sheet1!$B$2:$B$4</c:f>
              <c:numCache>
                <c:formatCode>General</c:formatCode>
                <c:ptCount val="3"/>
                <c:pt idx="0">
                  <c:v>13.5</c:v>
                </c:pt>
                <c:pt idx="1">
                  <c:v>25.2</c:v>
                </c:pt>
                <c:pt idx="2">
                  <c:v>43.9</c:v>
                </c:pt>
              </c:numCache>
            </c:numRef>
          </c:val>
        </c:ser>
        <c:ser>
          <c:idx val="1"/>
          <c:order val="1"/>
          <c:tx>
            <c:strRef>
              <c:f>Sheet1!$C$1</c:f>
              <c:strCache>
                <c:ptCount val="1"/>
                <c:pt idx="0">
                  <c:v>Software company (benchmark)</c:v>
                </c:pt>
              </c:strCache>
            </c:strRef>
          </c:tx>
          <c:spPr>
            <a:solidFill>
              <a:srgbClr val="C98A00"/>
            </a:solidFill>
            <a:effectLst/>
          </c:spPr>
          <c:invertIfNegative val="0"/>
          <c:dLbls>
            <c:numFmt formatCode="0.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cat>
            <c:multiLvlStrRef>
              <c:f>Sheet1!$A$2:$A$4</c:f>
              <c:multiLvlStrCache>
                <c:ptCount val="3"/>
                <c:lvl>
                  <c:pt idx="0">
                    <c:v>Manpower, loaded</c:v>
                  </c:pt>
                  <c:pt idx="1">
                    <c:v>One-time cost</c:v>
                  </c:pt>
                  <c:pt idx="2">
                    <c:v>Total over 3 years</c:v>
                  </c:pt>
                </c:lvl>
              </c:multiLvlStrCache>
            </c:multiLvlStrRef>
          </c:cat>
          <c:val>
            <c:numRef>
              <c:f>Sheet1!$C$2:$C$4</c:f>
              <c:numCache>
                <c:formatCode>General</c:formatCode>
                <c:ptCount val="3"/>
                <c:pt idx="0">
                  <c:v>29.9</c:v>
                </c:pt>
                <c:pt idx="1">
                  <c:v>43.5</c:v>
                </c:pt>
                <c:pt idx="2">
                  <c:v>78.6</c:v>
                </c:pt>
              </c:numCache>
            </c:numRef>
          </c:val>
        </c:ser>
        <c:dLbls>
          <c:numFmt formatCode="0.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87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87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2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Projects</c:v>
                </c:pt>
              </c:strCache>
            </c:strRef>
          </c:tx>
          <c:spPr>
            <a:solidFill>
              <a:srgbClr val="0D5E72"/>
            </a:solidFill>
            <a:effectLst/>
          </c:spPr>
          <c:invertIfNegative val="0"/>
          <c:dLbls>
            <c:numFmt formatCode="#,##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cat>
            <c:multiLvlStrRef>
              <c:f>Sheet1!$A$2:$A$10</c:f>
              <c:multiLvlStrCache>
                <c:ptCount val="9"/>
                <c:lvl>
                  <c:pt idx="0">
                    <c:v>Quality and productivity</c:v>
                  </c:pt>
                  <c:pt idx="1">
                    <c:v>Real-time visibility and tracking</c:v>
                  </c:pt>
                  <c:pt idx="2">
                    <c:v>Cost, energy, material</c:v>
                  </c:pt>
                  <c:pt idx="3">
                    <c:v>Manual work removed</c:v>
                  </c:pt>
                  <c:pt idx="4">
                    <c:v>Time saved, faster turnaround</c:v>
                  </c:pt>
                  <c:pt idx="5">
                    <c:v>Early warning, reliability</c:v>
                  </c:pt>
                  <c:pt idx="6">
                    <c:v>Obsolete systems, cyber-security</c:v>
                  </c:pt>
                  <c:pt idx="7">
                    <c:v>Safety and hazard avoidance</c:v>
                  </c:pt>
                  <c:pt idx="8">
                    <c:v>Approvals and records</c:v>
                  </c:pt>
                </c:lvl>
              </c:multiLvlStrCache>
            </c:multiLvlStrRef>
          </c:cat>
          <c:val>
            <c:numRef>
              <c:f>Sheet1!$B$2:$B$10</c:f>
              <c:numCache>
                <c:formatCode>General</c:formatCode>
                <c:ptCount val="9"/>
                <c:pt idx="0">
                  <c:v>35</c:v>
                </c:pt>
                <c:pt idx="1">
                  <c:v>29</c:v>
                </c:pt>
                <c:pt idx="2">
                  <c:v>24</c:v>
                </c:pt>
                <c:pt idx="3">
                  <c:v>19</c:v>
                </c:pt>
                <c:pt idx="4">
                  <c:v>16</c:v>
                </c:pt>
                <c:pt idx="5">
                  <c:v>12</c:v>
                </c:pt>
                <c:pt idx="6">
                  <c:v>11</c:v>
                </c:pt>
                <c:pt idx="7">
                  <c:v>8</c:v>
                </c:pt>
                <c:pt idx="8">
                  <c:v>7</c:v>
                </c:pt>
              </c:numCache>
            </c:numRef>
          </c:val>
        </c:ser>
        <c:dLbls>
          <c:numFmt formatCode="#,##0" sourceLinked="0"/>
          <c:txPr>
            <a:bodyPr/>
            <a:lstStyle/>
            <a:p>
              <a:pPr>
                <a:defRPr b="0" i="0" strike="noStrike" sz="1100" u="none">
                  <a:solidFill>
                    <a:srgbClr val="1522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6687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8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projects whose start/end dates overlap 1 Nov 2025 to 30 Nov 2026, plus every project marked In Progress (dated outside, or with no dates). Failed projects are left out. Costs come from the estimator page logic (same as script 07). Figures: one-time ₹25.17 Cr, yearly ₹6.10 Cr, 3-year total ₹43.88 Cr. Person-years = person-days / 240.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Manpower, loaded: in-house ₹13.52 Cr against benchmark ₹29.95 Cr. One-time: ₹25.17 Cr against ₹43.49 Cr. Yearly running: ₹6.10 Cr against ₹11.61 Cr. Total over 3 years: ₹43.88 Cr against ₹78.60 Cr. If the benchmark effort factor in the masters is raised above 1, the benchmark and the saving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each quotation is checked against the workbook text by database/tools/derive_ca_projects_deck.js. Themes: Turnaround time and time saved 16; Manual work and reporting removed 19; Real-time visibility and tracking 29; Early warning, predictive maintenance, reliability 12; Quality, productivity and process control 35; Safety and hazard avoidance 8; Cost, energy and material savings 24; Approvals, records and compliance 7; Obsolete systems replaced, cyber-security and infrastructure 11. 47 projects have neither Key Benefit nor Short Description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548640" y="6473952"/>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Central Automation  |  Project list as of July 2026, projects of Nov 2025 to Nov 2026 and all in progress</a:t>
            </a:r>
            <a:endParaRPr lang="en-US" sz="1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120 projects: ₹25.2 Cr to build, ₹6.1 Cr a year to run</a:t>
            </a:r>
            <a:endParaRPr lang="en-US" sz="3000" dirty="0"/>
          </a:p>
        </p:txBody>
      </p:sp>
      <p:sp>
        <p:nvSpPr>
          <p:cNvPr id="3" name="Projects card"/>
          <p:cNvSpPr/>
          <p:nvPr/>
        </p:nvSpPr>
        <p:spPr>
          <a:xfrm>
            <a:off x="548640" y="1280160"/>
            <a:ext cx="2651760" cy="1188720"/>
          </a:xfrm>
          <a:prstGeom prst="rect">
            <a:avLst/>
          </a:prstGeom>
          <a:solidFill>
            <a:schemeClr val="bg2"/>
          </a:solidFill>
          <a:ln w="9525">
            <a:solidFill>
              <a:srgbClr val="D3DBE0"/>
            </a:solidFill>
            <a:prstDash val="solid"/>
          </a:ln>
        </p:spPr>
      </p:sp>
      <p:sp>
        <p:nvSpPr>
          <p:cNvPr id="4" name="Projects value"/>
          <p:cNvSpPr txBox="1"/>
          <p:nvPr/>
        </p:nvSpPr>
        <p:spPr>
          <a:xfrm>
            <a:off x="731520" y="1371600"/>
            <a:ext cx="2286000" cy="594360"/>
          </a:xfrm>
          <a:prstGeom prst="rect">
            <a:avLst/>
          </a:prstGeom>
          <a:noFill/>
          <a:ln/>
        </p:spPr>
        <p:txBody>
          <a:bodyPr wrap="square" lIns="0" tIns="0" rIns="0" bIns="0" rtlCol="0" anchor="ctr"/>
          <a:lstStyle/>
          <a:p>
            <a:pPr indent="0" marL="0">
              <a:buNone/>
            </a:pPr>
            <a:r>
              <a:rPr lang="en-US" sz="3200" b="1" dirty="0">
                <a:solidFill>
                  <a:schemeClr val="accent1"/>
                </a:solidFill>
              </a:rPr>
              <a:t>120</a:t>
            </a:r>
            <a:endParaRPr lang="en-US" sz="3200" dirty="0"/>
          </a:p>
        </p:txBody>
      </p:sp>
      <p:sp>
        <p:nvSpPr>
          <p:cNvPr id="5" name="Projects label"/>
          <p:cNvSpPr txBox="1"/>
          <p:nvPr/>
        </p:nvSpPr>
        <p:spPr>
          <a:xfrm>
            <a:off x="731520" y="1969618"/>
            <a:ext cx="2286000" cy="451714"/>
          </a:xfrm>
          <a:prstGeom prst="rect">
            <a:avLst/>
          </a:prstGeom>
          <a:noFill/>
          <a:ln/>
        </p:spPr>
        <p:txBody>
          <a:bodyPr wrap="square" lIns="0" tIns="0" rIns="0" bIns="0" rtlCol="0" anchor="t"/>
          <a:lstStyle/>
          <a:p>
            <a:pPr indent="0" marL="0">
              <a:buNone/>
            </a:pPr>
            <a:r>
              <a:rPr lang="en-US" sz="1200" dirty="0">
                <a:solidFill>
                  <a:schemeClr val="tx1"/>
                </a:solidFill>
              </a:rPr>
              <a:t>101 dated Nov 2025 to Nov 2026, plus 19 more in progress</a:t>
            </a:r>
            <a:endParaRPr lang="en-US" sz="1200" dirty="0"/>
          </a:p>
        </p:txBody>
      </p:sp>
      <p:sp>
        <p:nvSpPr>
          <p:cNvPr id="6" name="One-time card"/>
          <p:cNvSpPr/>
          <p:nvPr/>
        </p:nvSpPr>
        <p:spPr>
          <a:xfrm>
            <a:off x="3353105" y="1280160"/>
            <a:ext cx="2651760" cy="1188720"/>
          </a:xfrm>
          <a:prstGeom prst="rect">
            <a:avLst/>
          </a:prstGeom>
          <a:solidFill>
            <a:schemeClr val="bg2"/>
          </a:solidFill>
          <a:ln w="9525">
            <a:solidFill>
              <a:srgbClr val="D3DBE0"/>
            </a:solidFill>
            <a:prstDash val="solid"/>
          </a:ln>
        </p:spPr>
      </p:sp>
      <p:sp>
        <p:nvSpPr>
          <p:cNvPr id="7" name="One-time value"/>
          <p:cNvSpPr txBox="1"/>
          <p:nvPr/>
        </p:nvSpPr>
        <p:spPr>
          <a:xfrm>
            <a:off x="3535985" y="1371600"/>
            <a:ext cx="2286000" cy="594360"/>
          </a:xfrm>
          <a:prstGeom prst="rect">
            <a:avLst/>
          </a:prstGeom>
          <a:noFill/>
          <a:ln/>
        </p:spPr>
        <p:txBody>
          <a:bodyPr wrap="square" lIns="0" tIns="0" rIns="0" bIns="0" rtlCol="0" anchor="ctr"/>
          <a:lstStyle/>
          <a:p>
            <a:pPr indent="0" marL="0">
              <a:buNone/>
            </a:pPr>
            <a:r>
              <a:rPr lang="en-US" sz="3200" b="1" dirty="0">
                <a:solidFill>
                  <a:schemeClr val="accent1"/>
                </a:solidFill>
              </a:rPr>
              <a:t>₹25.2 Cr</a:t>
            </a:r>
            <a:endParaRPr lang="en-US" sz="3200" dirty="0"/>
          </a:p>
        </p:txBody>
      </p:sp>
      <p:sp>
        <p:nvSpPr>
          <p:cNvPr id="8" name="One-time label"/>
          <p:cNvSpPr txBox="1"/>
          <p:nvPr/>
        </p:nvSpPr>
        <p:spPr>
          <a:xfrm>
            <a:off x="3535985" y="1969618"/>
            <a:ext cx="2286000" cy="451714"/>
          </a:xfrm>
          <a:prstGeom prst="rect">
            <a:avLst/>
          </a:prstGeom>
          <a:noFill/>
          <a:ln/>
        </p:spPr>
        <p:txBody>
          <a:bodyPr wrap="square" lIns="0" tIns="0" rIns="0" bIns="0" rtlCol="0" anchor="t"/>
          <a:lstStyle/>
          <a:p>
            <a:pPr indent="0" marL="0">
              <a:buNone/>
            </a:pPr>
            <a:r>
              <a:rPr lang="en-US" sz="1200" dirty="0">
                <a:solidFill>
                  <a:schemeClr val="tx1"/>
                </a:solidFill>
              </a:rPr>
              <a:t>one-time cost to build and deploy, at Central Automation</a:t>
            </a:r>
            <a:endParaRPr lang="en-US" sz="1200" dirty="0"/>
          </a:p>
        </p:txBody>
      </p:sp>
      <p:sp>
        <p:nvSpPr>
          <p:cNvPr id="9" name="Yearly card"/>
          <p:cNvSpPr/>
          <p:nvPr/>
        </p:nvSpPr>
        <p:spPr>
          <a:xfrm>
            <a:off x="6157570" y="1280160"/>
            <a:ext cx="2651760" cy="1188720"/>
          </a:xfrm>
          <a:prstGeom prst="rect">
            <a:avLst/>
          </a:prstGeom>
          <a:solidFill>
            <a:schemeClr val="bg2"/>
          </a:solidFill>
          <a:ln w="9525">
            <a:solidFill>
              <a:srgbClr val="D3DBE0"/>
            </a:solidFill>
            <a:prstDash val="solid"/>
          </a:ln>
        </p:spPr>
      </p:sp>
      <p:sp>
        <p:nvSpPr>
          <p:cNvPr id="10" name="Yearly value"/>
          <p:cNvSpPr txBox="1"/>
          <p:nvPr/>
        </p:nvSpPr>
        <p:spPr>
          <a:xfrm>
            <a:off x="6340450" y="1371600"/>
            <a:ext cx="2286000" cy="594360"/>
          </a:xfrm>
          <a:prstGeom prst="rect">
            <a:avLst/>
          </a:prstGeom>
          <a:noFill/>
          <a:ln/>
        </p:spPr>
        <p:txBody>
          <a:bodyPr wrap="square" lIns="0" tIns="0" rIns="0" bIns="0" rtlCol="0" anchor="ctr"/>
          <a:lstStyle/>
          <a:p>
            <a:pPr indent="0" marL="0">
              <a:buNone/>
            </a:pPr>
            <a:r>
              <a:rPr lang="en-US" sz="3200" b="1" dirty="0">
                <a:solidFill>
                  <a:schemeClr val="accent1"/>
                </a:solidFill>
              </a:rPr>
              <a:t>₹6.1 Cr</a:t>
            </a:r>
            <a:endParaRPr lang="en-US" sz="3200" dirty="0"/>
          </a:p>
        </p:txBody>
      </p:sp>
      <p:sp>
        <p:nvSpPr>
          <p:cNvPr id="11" name="Yearly label"/>
          <p:cNvSpPr txBox="1"/>
          <p:nvPr/>
        </p:nvSpPr>
        <p:spPr>
          <a:xfrm>
            <a:off x="6340450" y="1969618"/>
            <a:ext cx="2286000" cy="451714"/>
          </a:xfrm>
          <a:prstGeom prst="rect">
            <a:avLst/>
          </a:prstGeom>
          <a:noFill/>
          <a:ln/>
        </p:spPr>
        <p:txBody>
          <a:bodyPr wrap="square" lIns="0" tIns="0" rIns="0" bIns="0" rtlCol="0" anchor="t"/>
          <a:lstStyle/>
          <a:p>
            <a:pPr indent="0" marL="0">
              <a:buNone/>
            </a:pPr>
            <a:r>
              <a:rPr lang="en-US" sz="1200" dirty="0">
                <a:solidFill>
                  <a:schemeClr val="tx1"/>
                </a:solidFill>
              </a:rPr>
              <a:t>yearly running cost: hosting, licences, support</a:t>
            </a:r>
            <a:endParaRPr lang="en-US" sz="1200" dirty="0"/>
          </a:p>
        </p:txBody>
      </p:sp>
      <p:sp>
        <p:nvSpPr>
          <p:cNvPr id="12" name="Effort card"/>
          <p:cNvSpPr/>
          <p:nvPr/>
        </p:nvSpPr>
        <p:spPr>
          <a:xfrm>
            <a:off x="8962034" y="1280160"/>
            <a:ext cx="2651760" cy="1188720"/>
          </a:xfrm>
          <a:prstGeom prst="rect">
            <a:avLst/>
          </a:prstGeom>
          <a:solidFill>
            <a:schemeClr val="bg2"/>
          </a:solidFill>
          <a:ln w="9525">
            <a:solidFill>
              <a:srgbClr val="D3DBE0"/>
            </a:solidFill>
            <a:prstDash val="solid"/>
          </a:ln>
        </p:spPr>
      </p:sp>
      <p:sp>
        <p:nvSpPr>
          <p:cNvPr id="13" name="Effort value"/>
          <p:cNvSpPr txBox="1"/>
          <p:nvPr/>
        </p:nvSpPr>
        <p:spPr>
          <a:xfrm>
            <a:off x="9144914" y="1371600"/>
            <a:ext cx="2286000" cy="594360"/>
          </a:xfrm>
          <a:prstGeom prst="rect">
            <a:avLst/>
          </a:prstGeom>
          <a:noFill/>
          <a:ln/>
        </p:spPr>
        <p:txBody>
          <a:bodyPr wrap="square" lIns="0" tIns="0" rIns="0" bIns="0" rtlCol="0" anchor="ctr"/>
          <a:lstStyle/>
          <a:p>
            <a:pPr indent="0" marL="0">
              <a:buNone/>
            </a:pPr>
            <a:r>
              <a:rPr lang="en-US" sz="3200" b="1" dirty="0">
                <a:solidFill>
                  <a:schemeClr val="accent1"/>
                </a:solidFill>
              </a:rPr>
              <a:t>13,783</a:t>
            </a:r>
            <a:endParaRPr lang="en-US" sz="3200" dirty="0"/>
          </a:p>
        </p:txBody>
      </p:sp>
      <p:sp>
        <p:nvSpPr>
          <p:cNvPr id="14" name="Effort label"/>
          <p:cNvSpPr txBox="1"/>
          <p:nvPr/>
        </p:nvSpPr>
        <p:spPr>
          <a:xfrm>
            <a:off x="9144914" y="1969618"/>
            <a:ext cx="2286000" cy="451714"/>
          </a:xfrm>
          <a:prstGeom prst="rect">
            <a:avLst/>
          </a:prstGeom>
          <a:noFill/>
          <a:ln/>
        </p:spPr>
        <p:txBody>
          <a:bodyPr wrap="square" lIns="0" tIns="0" rIns="0" bIns="0" rtlCol="0" anchor="t"/>
          <a:lstStyle/>
          <a:p>
            <a:pPr indent="0" marL="0">
              <a:buNone/>
            </a:pPr>
            <a:r>
              <a:rPr lang="en-US" sz="1200" dirty="0">
                <a:solidFill>
                  <a:schemeClr val="tx1"/>
                </a:solidFill>
              </a:rPr>
              <a:t>person-days of the in-house team, about 57 person-years</a:t>
            </a:r>
            <a:endParaRPr lang="en-US" sz="1200" dirty="0"/>
          </a:p>
        </p:txBody>
      </p:sp>
      <p:sp>
        <p:nvSpPr>
          <p:cNvPr id="15" name="Chart heading"/>
          <p:cNvSpPr txBox="1"/>
          <p:nvPr/>
        </p:nvSpPr>
        <p:spPr>
          <a:xfrm>
            <a:off x="548640" y="2697480"/>
            <a:ext cx="6949440" cy="320040"/>
          </a:xfrm>
          <a:prstGeom prst="rect">
            <a:avLst/>
          </a:prstGeom>
          <a:noFill/>
          <a:ln/>
        </p:spPr>
        <p:txBody>
          <a:bodyPr wrap="square" lIns="0" tIns="0" rIns="0" bIns="0" rtlCol="0" anchor="ctr"/>
          <a:lstStyle/>
          <a:p>
            <a:pPr indent="0" marL="0">
              <a:buNone/>
            </a:pPr>
            <a:r>
              <a:rPr lang="en-US" sz="1400" b="1" dirty="0">
                <a:solidFill>
                  <a:schemeClr val="tx1"/>
                </a:solidFill>
              </a:rPr>
              <a:t>Total cost over 3 years by business KPI, ₹ Cr</a:t>
            </a:r>
            <a:endParaRPr lang="en-US" sz="1400" dirty="0"/>
          </a:p>
        </p:txBody>
      </p:sp>
      <p:graphicFrame>
        <p:nvGraphicFramePr>
          <p:cNvPr id="16" name="Cost by KPI chart" descr=""/>
          <p:cNvGraphicFramePr/>
          <p:nvPr/>
        </p:nvGraphicFramePr>
        <p:xfrm>
          <a:off x="548640" y="3017520"/>
          <a:ext cx="6949440" cy="2834640"/>
        </p:xfrm>
        <a:graphic xmlns:a="http://schemas.openxmlformats.org/drawingml/2006/main">
          <a:graphicData uri="http://schemas.openxmlformats.org/drawingml/2006/chart">
            <c:chart xmlns:c="http://schemas.openxmlformats.org/drawingml/2006/chart" r:id="rId1"/>
          </a:graphicData>
        </a:graphic>
      </p:graphicFrame>
      <p:sp>
        <p:nvSpPr>
          <p:cNvPr id="17" name="Table heading"/>
          <p:cNvSpPr txBox="1"/>
          <p:nvPr/>
        </p:nvSpPr>
        <p:spPr>
          <a:xfrm>
            <a:off x="7863840" y="2697480"/>
            <a:ext cx="3749040" cy="320040"/>
          </a:xfrm>
          <a:prstGeom prst="rect">
            <a:avLst/>
          </a:prstGeom>
          <a:noFill/>
          <a:ln/>
        </p:spPr>
        <p:txBody>
          <a:bodyPr wrap="square" lIns="0" tIns="0" rIns="0" bIns="0" rtlCol="0" anchor="ctr"/>
          <a:lstStyle/>
          <a:p>
            <a:pPr indent="0" marL="0">
              <a:buNone/>
            </a:pPr>
            <a:r>
              <a:rPr lang="en-US" sz="1400" b="1" dirty="0">
                <a:solidFill>
                  <a:schemeClr val="tx1"/>
                </a:solidFill>
              </a:rPr>
              <a:t>Which projects</a:t>
            </a:r>
            <a:endParaRPr lang="en-US" sz="1400" dirty="0"/>
          </a:p>
        </p:txBody>
      </p:sp>
      <p:graphicFrame>
        <p:nvGraphicFramePr>
          <p:cNvPr id="2" name="Projects table"/>
          <p:cNvGraphicFramePr>
            <a:graphicFrameLocks noGrp="1"/>
          </p:cNvGraphicFramePr>
          <p:nvPr>
            <p:extLst>
              <p:ext uri="{D42A27DB-BD31-4B8C-83A1-F6EECF244321}">
                <p14:modId xmlns:p14="http://schemas.microsoft.com/office/powerpoint/2010/main" val="1579011935"/>
              </p:ext>
            </p:extLst>
          </p:nvPr>
        </p:nvGraphicFramePr>
        <p:xfrm>
          <a:off x="7863840" y="3017520"/>
          <a:ext cx="3749040" cy="914400"/>
        </p:xfrm>
        <a:graphic>
          <a:graphicData uri="http://schemas.openxmlformats.org/drawingml/2006/table">
            <a:tbl>
              <a:tblPr/>
              <a:tblGrid>
                <a:gridCol w="2926080"/>
                <a:gridCol w="822960"/>
              </a:tblGrid>
              <a:tr h="329184">
                <a:tc>
                  <a:txBody>
                    <a:bodyPr/>
                    <a:lstStyle/>
                    <a:p>
                      <a:pPr algn="l" indent="0" marL="0">
                        <a:buNone/>
                      </a:pPr>
                      <a:r>
                        <a:rPr lang="en-US" sz="1200" b="1" dirty="0">
                          <a:solidFill>
                            <a:schemeClr val="bg1"/>
                          </a:solidFill>
                        </a:rPr>
                        <a:t>Group</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Projects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r>
              <a:tr h="329184">
                <a:tc>
                  <a:txBody>
                    <a:bodyPr/>
                    <a:lstStyle/>
                    <a:p>
                      <a:pPr indent="0" marL="0">
                        <a:buNone/>
                      </a:pPr>
                      <a:r>
                        <a:rPr lang="en-US" sz="1200" dirty="0">
                          <a:solidFill>
                            <a:schemeClr val="tx1"/>
                          </a:solidFill>
                        </a:rPr>
                        <a:t>Dated in the period, in use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54</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Dated in the period, in progress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47</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In progress, no dates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16</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In progress, dated outside the period</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3</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b="1" dirty="0">
                          <a:solidFill>
                            <a:schemeClr val="tx1"/>
                          </a:solidFill>
                        </a:rPr>
                        <a:t>In scope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b="1" dirty="0">
                          <a:solidFill>
                            <a:schemeClr val="tx1"/>
                          </a:solidFill>
                        </a:rPr>
                        <a:t>120</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bl>
          </a:graphicData>
        </a:graphic>
      </p:graphicFrame>
      <p:sp>
        <p:nvSpPr>
          <p:cNvPr id="19" name="Left out"/>
          <p:cNvSpPr txBox="1"/>
          <p:nvPr/>
        </p:nvSpPr>
        <p:spPr>
          <a:xfrm>
            <a:off x="7863840" y="5074920"/>
            <a:ext cx="3749040" cy="731520"/>
          </a:xfrm>
          <a:prstGeom prst="rect">
            <a:avLst/>
          </a:prstGeom>
          <a:noFill/>
          <a:ln/>
        </p:spPr>
        <p:txBody>
          <a:bodyPr wrap="square" lIns="0" tIns="0" rIns="0" bIns="0" rtlCol="0" anchor="t"/>
          <a:lstStyle/>
          <a:p>
            <a:pPr indent="0" marL="0">
              <a:buNone/>
            </a:pPr>
            <a:r>
              <a:rPr lang="en-US" sz="1100" dirty="0">
                <a:solidFill>
                  <a:schemeClr val="accent5"/>
                </a:solidFill>
              </a:rPr>
              <a:t>Left out: 70 (49 dated outside the period, not in progress, 20 no dates, not in progress, 1 failed).</a:t>
            </a:r>
            <a:endParaRPr lang="en-US" sz="1100" dirty="0"/>
          </a:p>
        </p:txBody>
      </p:sp>
      <p:sp>
        <p:nvSpPr>
          <p:cNvPr id="20" name="Assumptions"/>
          <p:cNvSpPr txBox="1"/>
          <p:nvPr/>
        </p:nvSpPr>
        <p:spPr>
          <a:xfrm>
            <a:off x="548640" y="5897880"/>
            <a:ext cx="11064240" cy="502920"/>
          </a:xfrm>
          <a:prstGeom prst="rect">
            <a:avLst/>
          </a:prstGeom>
          <a:noFill/>
          <a:ln/>
        </p:spPr>
        <p:txBody>
          <a:bodyPr wrap="square" lIns="0" tIns="0" rIns="0" bIns="0" rtlCol="0" anchor="t"/>
          <a:lstStyle/>
          <a:p>
            <a:pPr indent="0" marL="0">
              <a:buNone/>
            </a:pPr>
            <a:r>
              <a:rPr lang="en-US" sz="1000" dirty="0">
                <a:solidFill>
                  <a:schemeClr val="accent5"/>
                </a:solidFill>
              </a:rPr>
              <a:t>Derived, not recorded: the sheet holds no costs, so each project is costed with the estimator's standard assumptions: one person (Senior for AI / ML / vision models, else Mid; FTE where given), working days between the project's dates (90 days when a date is missing), 100 users, standard server and licences, default masters, 3 years of ownership. Full project cost, not pro-rated to the period.</a:t>
            </a:r>
            <a:endParaRPr lang="en-US" sz="1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Built in-house, 44% below a software company's price</a:t>
            </a:r>
            <a:endParaRPr lang="en-US" sz="3000" dirty="0"/>
          </a:p>
        </p:txBody>
      </p:sp>
      <p:sp>
        <p:nvSpPr>
          <p:cNvPr id="3" name="Chart heading"/>
          <p:cNvSpPr txBox="1"/>
          <p:nvPr/>
        </p:nvSpPr>
        <p:spPr>
          <a:xfrm>
            <a:off x="548640" y="1280160"/>
            <a:ext cx="6126480" cy="320040"/>
          </a:xfrm>
          <a:prstGeom prst="rect">
            <a:avLst/>
          </a:prstGeom>
          <a:noFill/>
          <a:ln/>
        </p:spPr>
        <p:txBody>
          <a:bodyPr wrap="square" lIns="0" tIns="0" rIns="0" bIns="0" rtlCol="0" anchor="ctr"/>
          <a:lstStyle/>
          <a:p>
            <a:pPr indent="0" marL="0">
              <a:buNone/>
            </a:pPr>
            <a:r>
              <a:rPr lang="en-US" sz="1400" b="1" dirty="0">
                <a:solidFill>
                  <a:schemeClr val="tx1"/>
                </a:solidFill>
              </a:rPr>
              <a:t>Central Automation cost against what a software company would charge, ₹ Cr</a:t>
            </a:r>
            <a:endParaRPr lang="en-US" sz="1400" dirty="0"/>
          </a:p>
        </p:txBody>
      </p:sp>
      <p:graphicFrame>
        <p:nvGraphicFramePr>
          <p:cNvPr id="4" name="In-house vs benchmark chart" descr=""/>
          <p:cNvGraphicFramePr/>
          <p:nvPr/>
        </p:nvGraphicFramePr>
        <p:xfrm>
          <a:off x="548640" y="1600200"/>
          <a:ext cx="6126480" cy="4160520"/>
        </p:xfrm>
        <a:graphic xmlns:a="http://schemas.openxmlformats.org/drawingml/2006/main">
          <a:graphicData uri="http://schemas.openxmlformats.org/drawingml/2006/chart">
            <c:chart xmlns:c="http://schemas.openxmlformats.org/drawingml/2006/chart" r:id="rId1"/>
          </a:graphicData>
        </a:graphic>
      </p:graphicFrame>
      <p:sp>
        <p:nvSpPr>
          <p:cNvPr id="5" name="Total saving card"/>
          <p:cNvSpPr/>
          <p:nvPr/>
        </p:nvSpPr>
        <p:spPr>
          <a:xfrm>
            <a:off x="7040880" y="1280160"/>
            <a:ext cx="2194560" cy="1234440"/>
          </a:xfrm>
          <a:prstGeom prst="rect">
            <a:avLst/>
          </a:prstGeom>
          <a:solidFill>
            <a:schemeClr val="bg2"/>
          </a:solidFill>
          <a:ln w="9525">
            <a:solidFill>
              <a:srgbClr val="D3DBE0"/>
            </a:solidFill>
            <a:prstDash val="solid"/>
          </a:ln>
        </p:spPr>
      </p:sp>
      <p:sp>
        <p:nvSpPr>
          <p:cNvPr id="6" name="Total saving value"/>
          <p:cNvSpPr txBox="1"/>
          <p:nvPr/>
        </p:nvSpPr>
        <p:spPr>
          <a:xfrm>
            <a:off x="7223760" y="1371600"/>
            <a:ext cx="1828800" cy="617220"/>
          </a:xfrm>
          <a:prstGeom prst="rect">
            <a:avLst/>
          </a:prstGeom>
          <a:noFill/>
          <a:ln/>
        </p:spPr>
        <p:txBody>
          <a:bodyPr wrap="square" lIns="0" tIns="0" rIns="0" bIns="0" rtlCol="0" anchor="ctr"/>
          <a:lstStyle/>
          <a:p>
            <a:pPr indent="0" marL="0">
              <a:buNone/>
            </a:pPr>
            <a:r>
              <a:rPr lang="en-US" sz="3200" b="1" dirty="0">
                <a:solidFill>
                  <a:srgbClr val="1F7A45"/>
                </a:solidFill>
              </a:rPr>
              <a:t>₹34.7 Cr</a:t>
            </a:r>
            <a:endParaRPr lang="en-US" sz="3200" dirty="0"/>
          </a:p>
        </p:txBody>
      </p:sp>
      <p:sp>
        <p:nvSpPr>
          <p:cNvPr id="7" name="Total saving label"/>
          <p:cNvSpPr txBox="1"/>
          <p:nvPr/>
        </p:nvSpPr>
        <p:spPr>
          <a:xfrm>
            <a:off x="7223760" y="1996135"/>
            <a:ext cx="1828800" cy="469087"/>
          </a:xfrm>
          <a:prstGeom prst="rect">
            <a:avLst/>
          </a:prstGeom>
          <a:noFill/>
          <a:ln/>
        </p:spPr>
        <p:txBody>
          <a:bodyPr wrap="square" lIns="0" tIns="0" rIns="0" bIns="0" rtlCol="0" anchor="t"/>
          <a:lstStyle/>
          <a:p>
            <a:pPr indent="0" marL="0">
              <a:buNone/>
            </a:pPr>
            <a:r>
              <a:rPr lang="en-US" sz="1200" dirty="0">
                <a:solidFill>
                  <a:schemeClr val="tx1"/>
                </a:solidFill>
              </a:rPr>
              <a:t>saved over 3 years (44%)</a:t>
            </a:r>
            <a:endParaRPr lang="en-US" sz="1200" dirty="0"/>
          </a:p>
        </p:txBody>
      </p:sp>
      <p:sp>
        <p:nvSpPr>
          <p:cNvPr id="8" name="Manpower saving card"/>
          <p:cNvSpPr/>
          <p:nvPr/>
        </p:nvSpPr>
        <p:spPr>
          <a:xfrm>
            <a:off x="9418320" y="1280160"/>
            <a:ext cx="2194560" cy="1234440"/>
          </a:xfrm>
          <a:prstGeom prst="rect">
            <a:avLst/>
          </a:prstGeom>
          <a:solidFill>
            <a:schemeClr val="bg2"/>
          </a:solidFill>
          <a:ln w="9525">
            <a:solidFill>
              <a:srgbClr val="D3DBE0"/>
            </a:solidFill>
            <a:prstDash val="solid"/>
          </a:ln>
        </p:spPr>
      </p:sp>
      <p:sp>
        <p:nvSpPr>
          <p:cNvPr id="9" name="Manpower saving value"/>
          <p:cNvSpPr txBox="1"/>
          <p:nvPr/>
        </p:nvSpPr>
        <p:spPr>
          <a:xfrm>
            <a:off x="9601200" y="1371600"/>
            <a:ext cx="1828800" cy="617220"/>
          </a:xfrm>
          <a:prstGeom prst="rect">
            <a:avLst/>
          </a:prstGeom>
          <a:noFill/>
          <a:ln/>
        </p:spPr>
        <p:txBody>
          <a:bodyPr wrap="square" lIns="0" tIns="0" rIns="0" bIns="0" rtlCol="0" anchor="ctr"/>
          <a:lstStyle/>
          <a:p>
            <a:pPr indent="0" marL="0">
              <a:buNone/>
            </a:pPr>
            <a:r>
              <a:rPr lang="en-US" sz="3200" b="1" dirty="0">
                <a:solidFill>
                  <a:srgbClr val="1F7A45"/>
                </a:solidFill>
              </a:rPr>
              <a:t>₹16.4 Cr</a:t>
            </a:r>
            <a:endParaRPr lang="en-US" sz="3200" dirty="0"/>
          </a:p>
        </p:txBody>
      </p:sp>
      <p:sp>
        <p:nvSpPr>
          <p:cNvPr id="10" name="Manpower saving label"/>
          <p:cNvSpPr txBox="1"/>
          <p:nvPr/>
        </p:nvSpPr>
        <p:spPr>
          <a:xfrm>
            <a:off x="9601200" y="1996135"/>
            <a:ext cx="1828800" cy="469087"/>
          </a:xfrm>
          <a:prstGeom prst="rect">
            <a:avLst/>
          </a:prstGeom>
          <a:noFill/>
          <a:ln/>
        </p:spPr>
        <p:txBody>
          <a:bodyPr wrap="square" lIns="0" tIns="0" rIns="0" bIns="0" rtlCol="0" anchor="t"/>
          <a:lstStyle/>
          <a:p>
            <a:pPr indent="0" marL="0">
              <a:buNone/>
            </a:pPr>
            <a:r>
              <a:rPr lang="en-US" sz="1200" dirty="0">
                <a:solidFill>
                  <a:schemeClr val="tx1"/>
                </a:solidFill>
              </a:rPr>
              <a:t>of it on manpower (55%)</a:t>
            </a:r>
            <a:endParaRPr lang="en-US" sz="1200" dirty="0"/>
          </a:p>
        </p:txBody>
      </p:sp>
      <p:sp>
        <p:nvSpPr>
          <p:cNvPr id="11" name="Table heading"/>
          <p:cNvSpPr txBox="1"/>
          <p:nvPr/>
        </p:nvSpPr>
        <p:spPr>
          <a:xfrm>
            <a:off x="7040880" y="2697480"/>
            <a:ext cx="4572000" cy="320040"/>
          </a:xfrm>
          <a:prstGeom prst="rect">
            <a:avLst/>
          </a:prstGeom>
          <a:noFill/>
          <a:ln/>
        </p:spPr>
        <p:txBody>
          <a:bodyPr wrap="square" lIns="0" tIns="0" rIns="0" bIns="0" rtlCol="0" anchor="ctr"/>
          <a:lstStyle/>
          <a:p>
            <a:pPr indent="0" marL="0">
              <a:buNone/>
            </a:pPr>
            <a:r>
              <a:rPr lang="en-US" sz="1400" b="1" dirty="0">
                <a:solidFill>
                  <a:schemeClr val="tx1"/>
                </a:solidFill>
              </a:rPr>
              <a:t>Largest savings by project</a:t>
            </a:r>
            <a:endParaRPr lang="en-US" sz="1400" dirty="0"/>
          </a:p>
        </p:txBody>
      </p:sp>
      <p:graphicFrame>
        <p:nvGraphicFramePr>
          <p:cNvPr id="3" name="Top savings table"/>
          <p:cNvGraphicFramePr>
            <a:graphicFrameLocks noGrp="1"/>
          </p:cNvGraphicFramePr>
          <p:nvPr>
            <p:extLst>
              <p:ext uri="{D42A27DB-BD31-4B8C-83A1-F6EECF244321}">
                <p14:modId xmlns:p14="http://schemas.microsoft.com/office/powerpoint/2010/main" val="1579011935"/>
              </p:ext>
            </p:extLst>
          </p:nvPr>
        </p:nvGraphicFramePr>
        <p:xfrm>
          <a:off x="7040880" y="3017520"/>
          <a:ext cx="4572000" cy="914400"/>
        </p:xfrm>
        <a:graphic>
          <a:graphicData uri="http://schemas.openxmlformats.org/drawingml/2006/table">
            <a:tbl>
              <a:tblPr/>
              <a:tblGrid>
                <a:gridCol w="2011680"/>
                <a:gridCol w="822960"/>
                <a:gridCol w="914400"/>
                <a:gridCol w="822960"/>
              </a:tblGrid>
              <a:tr h="329184">
                <a:tc>
                  <a:txBody>
                    <a:bodyPr/>
                    <a:lstStyle/>
                    <a:p>
                      <a:pPr algn="l" indent="0" marL="0">
                        <a:buNone/>
                      </a:pPr>
                      <a:r>
                        <a:rPr lang="en-US" sz="1200" b="1" dirty="0">
                          <a:solidFill>
                            <a:schemeClr val="bg1"/>
                          </a:solidFill>
                        </a:rPr>
                        <a:t>Project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In-house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Benchmark</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Saving</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r>
              <a:tr h="329184">
                <a:tc>
                  <a:txBody>
                    <a:bodyPr/>
                    <a:lstStyle/>
                    <a:p>
                      <a:pPr indent="0" marL="0">
                        <a:buNone/>
                      </a:pPr>
                      <a:r>
                        <a:rPr lang="en-US" sz="1200" dirty="0">
                          <a:solidFill>
                            <a:schemeClr val="tx1"/>
                          </a:solidFill>
                        </a:rPr>
                        <a:t>C-MARVEL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₹1.64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₹3.79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b="1" dirty="0">
                          <a:solidFill>
                            <a:schemeClr val="accent3"/>
                          </a:solidFill>
                        </a:rPr>
                        <a:t>₹2.14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CBAM</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₹1.13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₹2.52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b="1" dirty="0">
                          <a:solidFill>
                            <a:schemeClr val="accent3"/>
                          </a:solidFill>
                        </a:rPr>
                        <a:t>₹1.39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ECD</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₹86.0 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₹1.87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b="1" dirty="0">
                          <a:solidFill>
                            <a:schemeClr val="accent3"/>
                          </a:solidFill>
                        </a:rPr>
                        <a:t>₹1.01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Byproduct Management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₹83.3 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₹1.80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b="1" dirty="0">
                          <a:solidFill>
                            <a:schemeClr val="accent3"/>
                          </a:solidFill>
                        </a:rPr>
                        <a:t>₹97.1 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GPQS Online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₹73.4 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dirty="0">
                          <a:solidFill>
                            <a:schemeClr val="tx1"/>
                          </a:solidFill>
                        </a:rPr>
                        <a:t>₹1.55 Cr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algn="r" indent="0" marL="0">
                        <a:buNone/>
                      </a:pPr>
                      <a:r>
                        <a:rPr lang="en-US" sz="1200" b="1" dirty="0">
                          <a:solidFill>
                            <a:schemeClr val="accent3"/>
                          </a:solidFill>
                        </a:rPr>
                        <a:t>₹81.3 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bl>
          </a:graphicData>
        </a:graphic>
      </p:graphicFrame>
      <p:sp>
        <p:nvSpPr>
          <p:cNvPr id="13" name="Effort note"/>
          <p:cNvSpPr txBox="1"/>
          <p:nvPr/>
        </p:nvSpPr>
        <p:spPr>
          <a:xfrm>
            <a:off x="7040880" y="5212080"/>
            <a:ext cx="4572000" cy="640080"/>
          </a:xfrm>
          <a:prstGeom prst="rect">
            <a:avLst/>
          </a:prstGeom>
          <a:noFill/>
          <a:ln/>
        </p:spPr>
        <p:txBody>
          <a:bodyPr wrap="square" lIns="0" tIns="0" rIns="0" bIns="0" rtlCol="0" anchor="t"/>
          <a:lstStyle/>
          <a:p>
            <a:pPr indent="0" marL="0">
              <a:buNone/>
            </a:pPr>
            <a:r>
              <a:rPr lang="en-US" sz="1100" dirty="0">
                <a:solidFill>
                  <a:schemeClr val="tx1"/>
                </a:solidFill>
              </a:rPr>
              <a:t>13,783 person-days (about 57 person-years) were needed either way: the saving comes from in-house rates, loadings and mark-up against a software company's, not from fewer days.</a:t>
            </a:r>
            <a:endParaRPr lang="en-US" sz="1100" dirty="0"/>
          </a:p>
        </p:txBody>
      </p:sp>
      <p:sp>
        <p:nvSpPr>
          <p:cNvPr id="14" name="Assumptions"/>
          <p:cNvSpPr txBox="1"/>
          <p:nvPr/>
        </p:nvSpPr>
        <p:spPr>
          <a:xfrm>
            <a:off x="548640" y="5897880"/>
            <a:ext cx="11064240" cy="502920"/>
          </a:xfrm>
          <a:prstGeom prst="rect">
            <a:avLst/>
          </a:prstGeom>
          <a:noFill/>
          <a:ln/>
        </p:spPr>
        <p:txBody>
          <a:bodyPr wrap="square" lIns="0" tIns="0" rIns="0" bIns="0" rtlCol="0" anchor="t"/>
          <a:lstStyle/>
          <a:p>
            <a:pPr indent="0" marL="0">
              <a:buNone/>
            </a:pPr>
            <a:r>
              <a:rPr lang="en-US" sz="1000" dirty="0">
                <a:solidFill>
                  <a:schemeClr val="accent5"/>
                </a:solidFill>
              </a:rPr>
              <a:t>Derived, not recorded. Benchmark = the estimator's software-company rates and loadings for the same effort (benchmark effort factor 1). Manpower, loaded = person-days at the level rate, with complexity, contingency, overheads and mark-up. Avoided external price, not cash released.</a:t>
            </a:r>
            <a:endParaRPr lang="en-US" sz="1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What the sheet states, and the other benefits</a:t>
            </a:r>
            <a:endParaRPr lang="en-US" sz="3000" dirty="0"/>
          </a:p>
        </p:txBody>
      </p:sp>
      <p:sp>
        <p:nvSpPr>
          <p:cNvPr id="3" name="Table heading"/>
          <p:cNvSpPr txBox="1"/>
          <p:nvPr/>
        </p:nvSpPr>
        <p:spPr>
          <a:xfrm>
            <a:off x="548640" y="1280160"/>
            <a:ext cx="6949440" cy="320040"/>
          </a:xfrm>
          <a:prstGeom prst="rect">
            <a:avLst/>
          </a:prstGeom>
          <a:noFill/>
          <a:ln/>
        </p:spPr>
        <p:txBody>
          <a:bodyPr wrap="square" lIns="0" tIns="0" rIns="0" bIns="0" rtlCol="0" anchor="ctr"/>
          <a:lstStyle/>
          <a:p>
            <a:pPr indent="0" marL="0">
              <a:buNone/>
            </a:pPr>
            <a:r>
              <a:rPr lang="en-US" sz="1400" b="1" dirty="0">
                <a:solidFill>
                  <a:schemeClr val="tx1"/>
                </a:solidFill>
              </a:rPr>
              <a:t>Figures stated in the sheet (before and after)</a:t>
            </a:r>
            <a:endParaRPr lang="en-US" sz="1400" dirty="0"/>
          </a:p>
        </p:txBody>
      </p:sp>
      <p:graphicFrame>
        <p:nvGraphicFramePr>
          <p:cNvPr id="4" name="Stated figures table"/>
          <p:cNvGraphicFramePr>
            <a:graphicFrameLocks noGrp="1"/>
          </p:cNvGraphicFramePr>
          <p:nvPr>
            <p:extLst>
              <p:ext uri="{D42A27DB-BD31-4B8C-83A1-F6EECF244321}">
                <p14:modId xmlns:p14="http://schemas.microsoft.com/office/powerpoint/2010/main" val="1579011935"/>
              </p:ext>
            </p:extLst>
          </p:nvPr>
        </p:nvGraphicFramePr>
        <p:xfrm>
          <a:off x="548640" y="1600200"/>
          <a:ext cx="7040880" cy="914400"/>
        </p:xfrm>
        <a:graphic>
          <a:graphicData uri="http://schemas.openxmlformats.org/drawingml/2006/table">
            <a:tbl>
              <a:tblPr/>
              <a:tblGrid>
                <a:gridCol w="1828800"/>
                <a:gridCol w="2011680"/>
                <a:gridCol w="914400"/>
                <a:gridCol w="1371600"/>
                <a:gridCol w="914400"/>
              </a:tblGrid>
              <a:tr h="329184">
                <a:tc>
                  <a:txBody>
                    <a:bodyPr/>
                    <a:lstStyle/>
                    <a:p>
                      <a:pPr algn="l" indent="0" marL="0">
                        <a:buNone/>
                      </a:pPr>
                      <a:r>
                        <a:rPr lang="en-US" sz="1200" b="1" dirty="0">
                          <a:solidFill>
                            <a:schemeClr val="bg1"/>
                          </a:solidFill>
                        </a:rPr>
                        <a:t>Project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Measure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Before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After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Change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solidFill>
                      <a:schemeClr val="accent1"/>
                    </a:solidFill>
                  </a:tcPr>
                </a:tc>
              </a:tr>
              <a:tr h="329184">
                <a:tc>
                  <a:txBody>
                    <a:bodyPr/>
                    <a:lstStyle/>
                    <a:p>
                      <a:pPr indent="0" marL="0">
                        <a:buNone/>
                      </a:pPr>
                      <a:r>
                        <a:rPr lang="en-US" sz="1200" dirty="0">
                          <a:solidFill>
                            <a:schemeClr val="tx1"/>
                          </a:solidFill>
                        </a:rPr>
                        <a:t>QRM</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Quality KPI capture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3 days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1 hour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accent5"/>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CRMS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Manpower distribution</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5 hours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1 hour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b="1" dirty="0">
                          <a:solidFill>
                            <a:schemeClr val="accent3"/>
                          </a:solidFill>
                        </a:rPr>
                        <a:t>80% less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Slab Qualification (2)</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Non-prime slab check</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7 man-days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1 man-day</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b="1" dirty="0">
                          <a:solidFill>
                            <a:schemeClr val="accent3"/>
                          </a:solidFill>
                        </a:rPr>
                        <a:t>86% less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Byproduct Management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Report preparation</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4-5 hours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1-2 minutes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accent5"/>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Yard Management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Coil tracing turnaround</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160 minutes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10 seconds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b="1" dirty="0">
                          <a:solidFill>
                            <a:schemeClr val="accent3"/>
                          </a:solidFill>
                        </a:rPr>
                        <a:t>99.9% less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Commitment Report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SCM commitment report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4 days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3 minutes</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accent5"/>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Stowage Plan</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Demurrage</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30% lower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accent5"/>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C-MARVEL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BF production</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+70 tons/day</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accent5"/>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r h="329184">
                <a:tc>
                  <a:txBody>
                    <a:bodyPr/>
                    <a:lstStyle/>
                    <a:p>
                      <a:pPr indent="0" marL="0">
                        <a:buNone/>
                      </a:pPr>
                      <a:r>
                        <a:rPr lang="en-US" sz="1200" dirty="0">
                          <a:solidFill>
                            <a:schemeClr val="tx1"/>
                          </a:solidFill>
                        </a:rPr>
                        <a:t>C-MARVEL</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Production cost, Hazira</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tx1"/>
                          </a:solidFill>
                        </a:rPr>
                        <a:t>Rs 615 per ton lower</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c>
                  <a:txBody>
                    <a:bodyPr/>
                    <a:lstStyle/>
                    <a:p>
                      <a:pPr indent="0" marL="0">
                        <a:buNone/>
                      </a:pPr>
                      <a:r>
                        <a:rPr lang="en-US" sz="1200" dirty="0">
                          <a:solidFill>
                            <a:schemeClr val="accent5"/>
                          </a:solidFill>
                        </a:rPr>
                        <a:t>–</a:t>
                      </a:r>
                      <a:endParaRPr lang="en-US" sz="1200" dirty="0"/>
                    </a:p>
                  </a:txBody>
                  <a:tcPr marL="73152" marR="73152" marT="27432" marB="27432" anchor="ctr">
                    <a:lnL w="9525" cap="flat" cmpd="sng" algn="ctr">
                      <a:solidFill>
                        <a:srgbClr val="D3DBE0"/>
                      </a:solidFill>
                      <a:prstDash val="solid"/>
                      <a:round/>
                      <a:headEnd type="none" w="med" len="med"/>
                      <a:tailEnd type="none" w="med" len="med"/>
                    </a:lnL>
                    <a:lnR w="9525" cap="flat" cmpd="sng" algn="ctr">
                      <a:solidFill>
                        <a:srgbClr val="D3DBE0"/>
                      </a:solidFill>
                      <a:prstDash val="solid"/>
                      <a:round/>
                      <a:headEnd type="none" w="med" len="med"/>
                      <a:tailEnd type="none" w="med" len="med"/>
                    </a:lnR>
                    <a:lnT w="9525" cap="flat" cmpd="sng" algn="ctr">
                      <a:solidFill>
                        <a:srgbClr val="D3DBE0"/>
                      </a:solidFill>
                      <a:prstDash val="solid"/>
                      <a:round/>
                      <a:headEnd type="none" w="med" len="med"/>
                      <a:tailEnd type="none" w="med" len="med"/>
                    </a:lnT>
                    <a:lnB w="9525" cap="flat" cmpd="sng" algn="ctr">
                      <a:solidFill>
                        <a:srgbClr val="D3DBE0"/>
                      </a:solidFill>
                      <a:prstDash val="solid"/>
                      <a:round/>
                      <a:headEnd type="none" w="med" len="med"/>
                      <a:tailEnd type="none" w="med" len="med"/>
                    </a:lnB>
                  </a:tcPr>
                </a:tc>
              </a:tr>
            </a:tbl>
          </a:graphicData>
        </a:graphic>
      </p:graphicFrame>
      <p:sp>
        <p:nvSpPr>
          <p:cNvPr id="5" name="Coverage note"/>
          <p:cNvSpPr txBox="1"/>
          <p:nvPr/>
        </p:nvSpPr>
        <p:spPr>
          <a:xfrm>
            <a:off x="548640" y="5303520"/>
            <a:ext cx="7040880" cy="548640"/>
          </a:xfrm>
          <a:prstGeom prst="rect">
            <a:avLst/>
          </a:prstGeom>
          <a:noFill/>
          <a:ln/>
        </p:spPr>
        <p:txBody>
          <a:bodyPr wrap="square" lIns="0" tIns="0" rIns="0" bIns="0" rtlCol="0" anchor="t"/>
          <a:lstStyle/>
          <a:p>
            <a:pPr indent="0" marL="0">
              <a:buNone/>
            </a:pPr>
            <a:r>
              <a:rPr lang="en-US" sz="1200" dirty="0">
                <a:solidFill>
                  <a:schemeClr val="tx1"/>
                </a:solidFill>
              </a:rPr>
              <a:t>10 figures from 9 project entries, quoted from the Key Benefit text. ₹ gained (Cal-2): none recorded for these projects. 47 of 120 projects have no benefit text in the sheet.</a:t>
            </a:r>
            <a:endParaRPr lang="en-US" sz="1200" dirty="0"/>
          </a:p>
        </p:txBody>
      </p:sp>
      <p:sp>
        <p:nvSpPr>
          <p:cNvPr id="6" name="Chart heading"/>
          <p:cNvSpPr txBox="1"/>
          <p:nvPr/>
        </p:nvSpPr>
        <p:spPr>
          <a:xfrm>
            <a:off x="7863840" y="1280160"/>
            <a:ext cx="3749040" cy="320040"/>
          </a:xfrm>
          <a:prstGeom prst="rect">
            <a:avLst/>
          </a:prstGeom>
          <a:noFill/>
          <a:ln/>
        </p:spPr>
        <p:txBody>
          <a:bodyPr wrap="square" lIns="0" tIns="0" rIns="0" bIns="0" rtlCol="0" anchor="ctr"/>
          <a:lstStyle/>
          <a:p>
            <a:pPr indent="0" marL="0">
              <a:buNone/>
            </a:pPr>
            <a:r>
              <a:rPr lang="en-US" sz="1400" b="1" dirty="0">
                <a:solidFill>
                  <a:schemeClr val="tx1"/>
                </a:solidFill>
              </a:rPr>
              <a:t>Other benefits: projects by theme</a:t>
            </a:r>
            <a:endParaRPr lang="en-US" sz="1400" dirty="0"/>
          </a:p>
        </p:txBody>
      </p:sp>
      <p:graphicFrame>
        <p:nvGraphicFramePr>
          <p:cNvPr id="7" name="Benefit themes chart" descr=""/>
          <p:cNvGraphicFramePr/>
          <p:nvPr/>
        </p:nvGraphicFramePr>
        <p:xfrm>
          <a:off x="7772400" y="1600200"/>
          <a:ext cx="3931920" cy="4206240"/>
        </p:xfrm>
        <a:graphic xmlns:a="http://schemas.openxmlformats.org/drawingml/2006/main">
          <a:graphicData uri="http://schemas.openxmlformats.org/drawingml/2006/chart">
            <c:chart xmlns:c="http://schemas.openxmlformats.org/drawingml/2006/chart" r:id="rId1"/>
          </a:graphicData>
        </a:graphic>
      </p:graphicFrame>
      <p:sp>
        <p:nvSpPr>
          <p:cNvPr id="8" name="Assumptions"/>
          <p:cNvSpPr txBox="1"/>
          <p:nvPr/>
        </p:nvSpPr>
        <p:spPr>
          <a:xfrm>
            <a:off x="548640" y="5897880"/>
            <a:ext cx="11064240" cy="502920"/>
          </a:xfrm>
          <a:prstGeom prst="rect">
            <a:avLst/>
          </a:prstGeom>
          <a:noFill/>
          <a:ln/>
        </p:spPr>
        <p:txBody>
          <a:bodyPr wrap="square" lIns="0" tIns="0" rIns="0" bIns="0" rtlCol="0" anchor="t"/>
          <a:lstStyle/>
          <a:p>
            <a:pPr indent="0" marL="0">
              <a:buNone/>
            </a:pPr>
            <a:r>
              <a:rPr lang="en-US" sz="1000" dirty="0">
                <a:solidFill>
                  <a:schemeClr val="accent5"/>
                </a:solidFill>
              </a:rPr>
              <a:t>Stated = quoted from the workbook text, not annualised (the sheet gives no frequency), so no ₹ is derived from them. Themes are a keyword reading of the Key Benefit text (Short Description when empty); a project can sit in several themes. Man power effort stated: 7 man-days to 1 per non-prime slab, 5 hours to 1 hour for manpower distribution, 4-5 hours to 1-2 minutes for a report.</a:t>
            </a:r>
            <a:endParaRPr lang="en-US" sz="1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CA Projects">
  <a:themeElements>
    <a:clrScheme name="CA Projects">
      <a:dk1>
        <a:srgbClr val="15222A"/>
      </a:dk1>
      <a:lt1>
        <a:srgbClr val="FFFFFF"/>
      </a:lt1>
      <a:dk2>
        <a:srgbClr val="0D5E72"/>
      </a:dk2>
      <a:lt2>
        <a:srgbClr val="EEF3F5"/>
      </a:lt2>
      <a:accent1>
        <a:srgbClr val="0D5E72"/>
      </a:accent1>
      <a:accent2>
        <a:srgbClr val="C98A00"/>
      </a:accent2>
      <a:accent3>
        <a:srgbClr val="1F7A45"/>
      </a:accent3>
      <a:accent4>
        <a:srgbClr val="B3411A"/>
      </a:accent4>
      <a:accent5>
        <a:srgbClr val="566872"/>
      </a:accent5>
      <a:accent6>
        <a:srgbClr val="55C4DB"/>
      </a:accent6>
      <a:hlink>
        <a:srgbClr val="0D5E72"/>
      </a:hlink>
      <a:folHlink>
        <a:srgbClr val="566872"/>
      </a:folHlink>
    </a:clrScheme>
    <a:fontScheme name="CA Project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Automation projects, Nov 2025 to Nov 2026: cost, man power saving and benefits</dc:title>
  <dc:subject>PptxGenJS Presentation</dc:subject>
  <dc:creator>Central Automation</dc:creator>
  <cp:lastModifiedBy>Central Automation</cp:lastModifiedBy>
  <cp:revision>1</cp:revision>
  <dcterms:created xsi:type="dcterms:W3CDTF">2026-10-28T20:42:29Z</dcterms:created>
  <dcterms:modified xsi:type="dcterms:W3CDTF">2026-10-28T20:42:29Z</dcterms:modified>
</cp:coreProperties>
</file>