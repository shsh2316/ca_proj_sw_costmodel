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Central Automation estimate and quotation site as of branch v10. Detail in docs/REVIEW_v10.md.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739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Automation  |  Estimate and quotation site: overview, v10, 29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D5E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kicker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Automation</a:t>
            </a:r>
            <a:endParaRPr lang="en-US" sz="2000" dirty="0"/>
          </a:p>
        </p:txBody>
      </p:sp>
      <p:sp>
        <p:nvSpPr>
          <p:cNvPr id="3" name="Cover title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and quotation site: overview</a:t>
            </a:r>
            <a:endParaRPr lang="en-US" sz="4000" dirty="0"/>
          </a:p>
        </p:txBody>
      </p:sp>
      <p:sp>
        <p:nvSpPr>
          <p:cNvPr id="4" name="Cover subtitle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does, how it works, how healthy it is, and what to do next</a:t>
            </a:r>
            <a:endParaRPr lang="en-US" sz="2000" dirty="0"/>
          </a:p>
        </p:txBody>
      </p:sp>
      <p:sp>
        <p:nvSpPr>
          <p:cNvPr id="5" name="Cover stat 1"/>
          <p:cNvSpPr/>
          <p:nvPr/>
        </p:nvSpPr>
        <p:spPr>
          <a:xfrm>
            <a:off x="731520" y="3931920"/>
            <a:ext cx="2560320" cy="1554480"/>
          </a:xfrm>
          <a:prstGeom prst="rect">
            <a:avLst/>
          </a:prstGeom>
          <a:solidFill>
            <a:srgbClr val="0A4B5B"/>
          </a:solidFill>
          <a:ln w="9525">
            <a:solidFill>
              <a:srgbClr val="2E7F93"/>
            </a:solidFill>
            <a:prstDash val="solid"/>
          </a:ln>
        </p:spPr>
      </p:sp>
      <p:sp>
        <p:nvSpPr>
          <p:cNvPr id="6" name="Cover stat value 1"/>
          <p:cNvSpPr txBox="1"/>
          <p:nvPr/>
        </p:nvSpPr>
        <p:spPr>
          <a:xfrm>
            <a:off x="91440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Cover stat text 1"/>
          <p:cNvSpPr txBox="1"/>
          <p:nvPr/>
        </p:nvSpPr>
        <p:spPr>
          <a:xfrm>
            <a:off x="914400" y="4709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estimator, Excel upload, report, login</a:t>
            </a:r>
            <a:endParaRPr lang="en-US" sz="1300" dirty="0"/>
          </a:p>
        </p:txBody>
      </p:sp>
      <p:sp>
        <p:nvSpPr>
          <p:cNvPr id="8" name="Cover stat 2"/>
          <p:cNvSpPr/>
          <p:nvPr/>
        </p:nvSpPr>
        <p:spPr>
          <a:xfrm>
            <a:off x="3474720" y="3931920"/>
            <a:ext cx="2560320" cy="1554480"/>
          </a:xfrm>
          <a:prstGeom prst="rect">
            <a:avLst/>
          </a:prstGeom>
          <a:solidFill>
            <a:srgbClr val="0A4B5B"/>
          </a:solidFill>
          <a:ln w="9525">
            <a:solidFill>
              <a:srgbClr val="2E7F93"/>
            </a:solidFill>
            <a:prstDash val="solid"/>
          </a:ln>
        </p:spPr>
      </p:sp>
      <p:sp>
        <p:nvSpPr>
          <p:cNvPr id="9" name="Cover stat value 2"/>
          <p:cNvSpPr txBox="1"/>
          <p:nvPr/>
        </p:nvSpPr>
        <p:spPr>
          <a:xfrm>
            <a:off x="365760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Cover stat text 2"/>
          <p:cNvSpPr txBox="1"/>
          <p:nvPr/>
        </p:nvSpPr>
        <p:spPr>
          <a:xfrm>
            <a:off x="3657600" y="4709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bases: in-house and a software company</a:t>
            </a:r>
            <a:endParaRPr lang="en-US" sz="1300" dirty="0"/>
          </a:p>
        </p:txBody>
      </p:sp>
      <p:sp>
        <p:nvSpPr>
          <p:cNvPr id="11" name="Cover stat 3"/>
          <p:cNvSpPr/>
          <p:nvPr/>
        </p:nvSpPr>
        <p:spPr>
          <a:xfrm>
            <a:off x="6217920" y="3931920"/>
            <a:ext cx="2560320" cy="1554480"/>
          </a:xfrm>
          <a:prstGeom prst="rect">
            <a:avLst/>
          </a:prstGeom>
          <a:solidFill>
            <a:srgbClr val="0A4B5B"/>
          </a:solidFill>
          <a:ln w="9525">
            <a:solidFill>
              <a:srgbClr val="2E7F93"/>
            </a:solidFill>
            <a:prstDash val="solid"/>
          </a:ln>
        </p:spPr>
      </p:sp>
      <p:sp>
        <p:nvSpPr>
          <p:cNvPr id="12" name="Cover stat value 3"/>
          <p:cNvSpPr txBox="1"/>
          <p:nvPr/>
        </p:nvSpPr>
        <p:spPr>
          <a:xfrm>
            <a:off x="640080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Cover stat text 3"/>
          <p:cNvSpPr txBox="1"/>
          <p:nvPr/>
        </p:nvSpPr>
        <p:spPr>
          <a:xfrm>
            <a:off x="6400800" y="4709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needed: every library on the server</a:t>
            </a:r>
            <a:endParaRPr lang="en-US" sz="1300" dirty="0"/>
          </a:p>
        </p:txBody>
      </p:sp>
      <p:sp>
        <p:nvSpPr>
          <p:cNvPr id="14" name="Cover stat 4"/>
          <p:cNvSpPr/>
          <p:nvPr/>
        </p:nvSpPr>
        <p:spPr>
          <a:xfrm>
            <a:off x="8961120" y="3931920"/>
            <a:ext cx="2560320" cy="1554480"/>
          </a:xfrm>
          <a:prstGeom prst="rect">
            <a:avLst/>
          </a:prstGeom>
          <a:solidFill>
            <a:srgbClr val="0A4B5B"/>
          </a:solidFill>
          <a:ln w="9525">
            <a:solidFill>
              <a:srgbClr val="2E7F93"/>
            </a:solidFill>
            <a:prstDash val="solid"/>
          </a:ln>
        </p:spPr>
      </p:sp>
      <p:sp>
        <p:nvSpPr>
          <p:cNvPr id="15" name="Cover stat value 4"/>
          <p:cNvSpPr txBox="1"/>
          <p:nvPr/>
        </p:nvSpPr>
        <p:spPr>
          <a:xfrm>
            <a:off x="914400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</a:t>
            </a:r>
            <a:endParaRPr lang="en-US" sz="3600" dirty="0"/>
          </a:p>
        </p:txBody>
      </p:sp>
      <p:sp>
        <p:nvSpPr>
          <p:cNvPr id="16" name="Cover stat text 4"/>
          <p:cNvSpPr txBox="1"/>
          <p:nvPr/>
        </p:nvSpPr>
        <p:spPr>
          <a:xfrm>
            <a:off x="9144000" y="4709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review, 29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site does</a:t>
            </a:r>
            <a:endParaRPr lang="en-US" sz="3000" dirty="0"/>
          </a:p>
        </p:txBody>
      </p:sp>
      <p:sp>
        <p:nvSpPr>
          <p:cNvPr id="3" name="Estimate card"/>
          <p:cNvSpPr/>
          <p:nvPr/>
        </p:nvSpPr>
        <p:spPr>
          <a:xfrm>
            <a:off x="548640" y="1280160"/>
            <a:ext cx="2651760" cy="32918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4" name="Estimate head"/>
          <p:cNvSpPr txBox="1"/>
          <p:nvPr/>
        </p:nvSpPr>
        <p:spPr>
          <a:xfrm>
            <a:off x="749808" y="144475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800" dirty="0"/>
          </a:p>
        </p:txBody>
      </p:sp>
      <p:sp>
        <p:nvSpPr>
          <p:cNvPr id="5" name="Estimate sub"/>
          <p:cNvSpPr txBox="1"/>
          <p:nvPr/>
        </p:nvSpPr>
        <p:spPr>
          <a:xfrm>
            <a:off x="749808" y="1828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Estimator: Registration</a:t>
            </a:r>
            <a:endParaRPr lang="en-US" sz="1200" dirty="0"/>
          </a:p>
        </p:txBody>
      </p:sp>
      <p:sp>
        <p:nvSpPr>
          <p:cNvPr id="6" name="Estimate text"/>
          <p:cNvSpPr txBox="1"/>
          <p:nvPr/>
        </p:nvSpPr>
        <p:spPr>
          <a:xfrm>
            <a:off x="749808" y="219456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step: team, servers, licences, support, value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Automation cost against a software company's price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to print, with both prices</a:t>
            </a:r>
            <a:endParaRPr lang="en-US" sz="1300" dirty="0"/>
          </a:p>
        </p:txBody>
      </p:sp>
      <p:sp>
        <p:nvSpPr>
          <p:cNvPr id="7" name="Approve card"/>
          <p:cNvSpPr/>
          <p:nvPr/>
        </p:nvSpPr>
        <p:spPr>
          <a:xfrm>
            <a:off x="3355848" y="1280160"/>
            <a:ext cx="2651760" cy="32918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8" name="Approve head"/>
          <p:cNvSpPr txBox="1"/>
          <p:nvPr/>
        </p:nvSpPr>
        <p:spPr>
          <a:xfrm>
            <a:off x="3557016" y="144475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approve</a:t>
            </a:r>
            <a:endParaRPr lang="en-US" sz="1800" dirty="0"/>
          </a:p>
        </p:txBody>
      </p:sp>
      <p:sp>
        <p:nvSpPr>
          <p:cNvPr id="9" name="Approve sub"/>
          <p:cNvSpPr txBox="1"/>
          <p:nvPr/>
        </p:nvSpPr>
        <p:spPr>
          <a:xfrm>
            <a:off x="3557016" y="1828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Estimator: Approval</a:t>
            </a:r>
            <a:endParaRPr lang="en-US" sz="1200" dirty="0"/>
          </a:p>
        </p:txBody>
      </p:sp>
      <p:sp>
        <p:nvSpPr>
          <p:cNvPr id="10" name="Approve text"/>
          <p:cNvSpPr txBox="1"/>
          <p:nvPr/>
        </p:nvSpPr>
        <p:spPr>
          <a:xfrm>
            <a:off x="3557016" y="219456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verification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send back with a comment, or recalculate with new rates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of every entry</a:t>
            </a:r>
            <a:endParaRPr lang="en-US" sz="1300" dirty="0"/>
          </a:p>
        </p:txBody>
      </p:sp>
      <p:sp>
        <p:nvSpPr>
          <p:cNvPr id="11" name="Upload card"/>
          <p:cNvSpPr/>
          <p:nvPr/>
        </p:nvSpPr>
        <p:spPr>
          <a:xfrm>
            <a:off x="6163056" y="1280160"/>
            <a:ext cx="2651760" cy="32918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2" name="Upload head"/>
          <p:cNvSpPr txBox="1"/>
          <p:nvPr/>
        </p:nvSpPr>
        <p:spPr>
          <a:xfrm>
            <a:off x="6364224" y="144475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 bulk</a:t>
            </a:r>
            <a:endParaRPr lang="en-US" sz="1800" dirty="0"/>
          </a:p>
        </p:txBody>
      </p:sp>
      <p:sp>
        <p:nvSpPr>
          <p:cNvPr id="13" name="Upload sub"/>
          <p:cNvSpPr txBox="1"/>
          <p:nvPr/>
        </p:nvSpPr>
        <p:spPr>
          <a:xfrm>
            <a:off x="6364224" y="1828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upload page</a:t>
            </a:r>
            <a:endParaRPr lang="en-US" sz="1200" dirty="0"/>
          </a:p>
        </p:txBody>
      </p:sp>
      <p:sp>
        <p:nvSpPr>
          <p:cNvPr id="14" name="Upload text"/>
          <p:cNvSpPr txBox="1"/>
          <p:nvPr/>
        </p:nvSpPr>
        <p:spPr>
          <a:xfrm>
            <a:off x="6364224" y="219456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with drop-down lists from the masters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project, costed at once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and clashes flagged before sending</a:t>
            </a:r>
            <a:endParaRPr lang="en-US" sz="1300" dirty="0"/>
          </a:p>
        </p:txBody>
      </p:sp>
      <p:sp>
        <p:nvSpPr>
          <p:cNvPr id="15" name="Report card"/>
          <p:cNvSpPr/>
          <p:nvPr/>
        </p:nvSpPr>
        <p:spPr>
          <a:xfrm>
            <a:off x="8970264" y="1280160"/>
            <a:ext cx="2651760" cy="32918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6" name="Report head"/>
          <p:cNvSpPr txBox="1"/>
          <p:nvPr/>
        </p:nvSpPr>
        <p:spPr>
          <a:xfrm>
            <a:off x="9171432" y="144475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800" dirty="0"/>
          </a:p>
        </p:txBody>
      </p:sp>
      <p:sp>
        <p:nvSpPr>
          <p:cNvPr id="17" name="Report sub"/>
          <p:cNvSpPr txBox="1"/>
          <p:nvPr/>
        </p:nvSpPr>
        <p:spPr>
          <a:xfrm>
            <a:off x="9171432" y="1828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</a:t>
            </a:r>
            <a:endParaRPr lang="en-US" sz="1200" dirty="0"/>
          </a:p>
        </p:txBody>
      </p:sp>
      <p:sp>
        <p:nvSpPr>
          <p:cNvPr id="18" name="Report text"/>
          <p:cNvSpPr txBox="1"/>
          <p:nvPr/>
        </p:nvSpPr>
        <p:spPr>
          <a:xfrm>
            <a:off x="9171432" y="219456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totals, CSV for Excel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of each estimate in the quotation layout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on phones, tablets and big screens</a:t>
            </a:r>
            <a:endParaRPr lang="en-US" sz="1300" dirty="0"/>
          </a:p>
        </p:txBody>
      </p:sp>
      <p:sp>
        <p:nvSpPr>
          <p:cNvPr id="19" name="Masters note"/>
          <p:cNvSpPr txBox="1"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(rates, prices, loadings, value rates) feed every new estimate; each estimate keeps its own copy until it is recalculated.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project flows through the site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548640" y="1554480"/>
            <a:ext cx="2148840" cy="1097280"/>
          </a:xfrm>
          <a:prstGeom prst="chevron">
            <a:avLst/>
          </a:prstGeom>
          <a:solidFill>
            <a:srgbClr val="0D5E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tep label 1"/>
          <p:cNvSpPr txBox="1"/>
          <p:nvPr/>
        </p:nvSpPr>
        <p:spPr>
          <a:xfrm>
            <a:off x="86868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</a:t>
            </a:r>
            <a:endParaRPr lang="en-US" sz="1700" dirty="0"/>
          </a:p>
        </p:txBody>
      </p:sp>
      <p:sp>
        <p:nvSpPr>
          <p:cNvPr id="5" name="Step text 1"/>
          <p:cNvSpPr txBox="1"/>
          <p:nvPr/>
        </p:nvSpPr>
        <p:spPr>
          <a:xfrm>
            <a:off x="54864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and prices set by admins</a:t>
            </a:r>
            <a:endParaRPr lang="en-US" sz="1300" dirty="0"/>
          </a:p>
        </p:txBody>
      </p:sp>
      <p:sp>
        <p:nvSpPr>
          <p:cNvPr id="6" name="Step 2"/>
          <p:cNvSpPr/>
          <p:nvPr/>
        </p:nvSpPr>
        <p:spPr>
          <a:xfrm>
            <a:off x="2788920" y="1554480"/>
            <a:ext cx="2148840" cy="1097280"/>
          </a:xfrm>
          <a:prstGeom prst="chevron">
            <a:avLst/>
          </a:prstGeom>
          <a:solidFill>
            <a:srgbClr val="0D5E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tep label 2"/>
          <p:cNvSpPr txBox="1"/>
          <p:nvPr/>
        </p:nvSpPr>
        <p:spPr>
          <a:xfrm>
            <a:off x="310896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700" dirty="0"/>
          </a:p>
        </p:txBody>
      </p:sp>
      <p:sp>
        <p:nvSpPr>
          <p:cNvPr id="8" name="Step text 2"/>
          <p:cNvSpPr txBox="1"/>
          <p:nvPr/>
        </p:nvSpPr>
        <p:spPr>
          <a:xfrm>
            <a:off x="278892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page, or many at once from Excel</a:t>
            </a:r>
            <a:endParaRPr lang="en-US" sz="1300" dirty="0"/>
          </a:p>
        </p:txBody>
      </p:sp>
      <p:sp>
        <p:nvSpPr>
          <p:cNvPr id="9" name="Step 3"/>
          <p:cNvSpPr/>
          <p:nvPr/>
        </p:nvSpPr>
        <p:spPr>
          <a:xfrm>
            <a:off x="5029200" y="1554480"/>
            <a:ext cx="2148840" cy="1097280"/>
          </a:xfrm>
          <a:prstGeom prst="chevron">
            <a:avLst/>
          </a:prstGeom>
          <a:solidFill>
            <a:srgbClr val="0D5E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tep label 3"/>
          <p:cNvSpPr txBox="1"/>
          <p:nvPr/>
        </p:nvSpPr>
        <p:spPr>
          <a:xfrm>
            <a:off x="534924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700" dirty="0"/>
          </a:p>
        </p:txBody>
      </p:sp>
      <p:sp>
        <p:nvSpPr>
          <p:cNvPr id="11" name="Step text 3"/>
          <p:cNvSpPr txBox="1"/>
          <p:nvPr/>
        </p:nvSpPr>
        <p:spPr>
          <a:xfrm>
            <a:off x="502920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with its costs and its own rates</a:t>
            </a:r>
            <a:endParaRPr lang="en-US" sz="1300" dirty="0"/>
          </a:p>
        </p:txBody>
      </p:sp>
      <p:sp>
        <p:nvSpPr>
          <p:cNvPr id="12" name="Step 4"/>
          <p:cNvSpPr/>
          <p:nvPr/>
        </p:nvSpPr>
        <p:spPr>
          <a:xfrm>
            <a:off x="7269480" y="1554480"/>
            <a:ext cx="2148840" cy="1097280"/>
          </a:xfrm>
          <a:prstGeom prst="chevron">
            <a:avLst/>
          </a:prstGeom>
          <a:solidFill>
            <a:srgbClr val="C9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tep label 4"/>
          <p:cNvSpPr txBox="1"/>
          <p:nvPr/>
        </p:nvSpPr>
        <p:spPr>
          <a:xfrm>
            <a:off x="758952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700" dirty="0"/>
          </a:p>
        </p:txBody>
      </p:sp>
      <p:sp>
        <p:nvSpPr>
          <p:cNvPr id="14" name="Step text 4"/>
          <p:cNvSpPr txBox="1"/>
          <p:nvPr/>
        </p:nvSpPr>
        <p:spPr>
          <a:xfrm>
            <a:off x="726948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send back, or recalculate</a:t>
            </a:r>
            <a:endParaRPr lang="en-US" sz="1300" dirty="0"/>
          </a:p>
        </p:txBody>
      </p:sp>
      <p:sp>
        <p:nvSpPr>
          <p:cNvPr id="15" name="Step 5"/>
          <p:cNvSpPr/>
          <p:nvPr/>
        </p:nvSpPr>
        <p:spPr>
          <a:xfrm>
            <a:off x="9509760" y="1554480"/>
            <a:ext cx="2148840" cy="1097280"/>
          </a:xfrm>
          <a:prstGeom prst="chevron">
            <a:avLst/>
          </a:prstGeom>
          <a:solidFill>
            <a:srgbClr val="0D5E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tep label 5"/>
          <p:cNvSpPr txBox="1"/>
          <p:nvPr/>
        </p:nvSpPr>
        <p:spPr>
          <a:xfrm>
            <a:off x="982980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700" dirty="0"/>
          </a:p>
        </p:txBody>
      </p:sp>
      <p:sp>
        <p:nvSpPr>
          <p:cNvPr id="17" name="Step text 5"/>
          <p:cNvSpPr txBox="1"/>
          <p:nvPr/>
        </p:nvSpPr>
        <p:spPr>
          <a:xfrm>
            <a:off x="950976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Totals, CSV, PDF quotation</a:t>
            </a:r>
            <a:endParaRPr lang="en-US" sz="1300" dirty="0"/>
          </a:p>
        </p:txBody>
      </p:sp>
      <p:sp>
        <p:nvSpPr>
          <p:cNvPr id="18" name="States box"/>
          <p:cNvSpPr/>
          <p:nvPr/>
        </p:nvSpPr>
        <p:spPr>
          <a:xfrm>
            <a:off x="548640" y="3840480"/>
            <a:ext cx="11064240" cy="19202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9" name="States head"/>
          <p:cNvSpPr txBox="1"/>
          <p:nvPr/>
        </p:nvSpPr>
        <p:spPr>
          <a:xfrm>
            <a:off x="7772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states of an entry</a:t>
            </a:r>
            <a:endParaRPr lang="en-US" sz="1500" dirty="0"/>
          </a:p>
        </p:txBody>
      </p:sp>
      <p:sp>
        <p:nvSpPr>
          <p:cNvPr id="20" name="States text"/>
          <p:cNvSpPr txBox="1"/>
          <p:nvPr/>
        </p:nvSpPr>
        <p:spPr>
          <a:xfrm>
            <a:off x="777240" y="438912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verification: just submitted (or resubmitted); the submitter can still edit 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information: sent back with a comment; the submitter edits and replies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final and counted in the totals; it changes only through a logged recalculation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3000" dirty="0"/>
          </a:p>
        </p:txBody>
      </p:sp>
      <p:sp>
        <p:nvSpPr>
          <p:cNvPr id="3" name="Browser box"/>
          <p:cNvSpPr/>
          <p:nvPr/>
        </p:nvSpPr>
        <p:spPr>
          <a:xfrm>
            <a:off x="548640" y="1280160"/>
            <a:ext cx="3520440" cy="393192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4" name="Browser head"/>
          <p:cNvSpPr txBox="1"/>
          <p:nvPr/>
        </p:nvSpPr>
        <p:spPr>
          <a:xfrm>
            <a:off x="749808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800" dirty="0"/>
          </a:p>
        </p:txBody>
      </p:sp>
      <p:sp>
        <p:nvSpPr>
          <p:cNvPr id="5" name="Browser text"/>
          <p:cNvSpPr txBox="1"/>
          <p:nvPr/>
        </p:nvSpPr>
        <p:spPr>
          <a:xfrm>
            <a:off x="749808" y="192024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estimator, upload, report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estimator.js works out every cost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xlsx-lite.js reads and writes Excel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and html2canvas make the PDF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served by the site</a:t>
            </a:r>
            <a:endParaRPr lang="en-US" sz="1300" dirty="0"/>
          </a:p>
        </p:txBody>
      </p:sp>
      <p:sp>
        <p:nvSpPr>
          <p:cNvPr id="6" name="Arrow 1"/>
          <p:cNvSpPr/>
          <p:nvPr/>
        </p:nvSpPr>
        <p:spPr>
          <a:xfrm>
            <a:off x="4096512" y="3017520"/>
            <a:ext cx="228600" cy="365760"/>
          </a:xfrm>
          <a:prstGeom prst="rightArrow">
            <a:avLst/>
          </a:prstGeom>
          <a:solidFill>
            <a:srgbClr val="566872"/>
          </a:solidFill>
          <a:ln w="12700">
            <a:solidFill>
              <a:srgbClr val="566872"/>
            </a:solidFill>
            <a:prstDash val="solid"/>
          </a:ln>
        </p:spPr>
      </p:sp>
      <p:sp>
        <p:nvSpPr>
          <p:cNvPr id="7" name="IIS, ASP.NET 4.8 box"/>
          <p:cNvSpPr/>
          <p:nvPr/>
        </p:nvSpPr>
        <p:spPr>
          <a:xfrm>
            <a:off x="4343400" y="1280160"/>
            <a:ext cx="3520440" cy="3931920"/>
          </a:xfrm>
          <a:prstGeom prst="rect">
            <a:avLst/>
          </a:prstGeom>
          <a:solidFill>
            <a:srgbClr val="DDEBF0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8" name="IIS, ASP.NET 4.8 head"/>
          <p:cNvSpPr txBox="1"/>
          <p:nvPr/>
        </p:nvSpPr>
        <p:spPr>
          <a:xfrm>
            <a:off x="4544568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IIS, ASP.NET 4.8</a:t>
            </a:r>
            <a:endParaRPr lang="en-US" sz="1800" dirty="0"/>
          </a:p>
        </p:txBody>
      </p:sp>
      <p:sp>
        <p:nvSpPr>
          <p:cNvPr id="9" name="IIS, ASP.NET 4.8 text"/>
          <p:cNvSpPr txBox="1"/>
          <p:nvPr/>
        </p:nvSpPr>
        <p:spPr>
          <a:xfrm>
            <a:off x="4544568" y="192024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LoginModule: one shared password, 8-hour cookie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api/estimator.ashx: JSON for the pages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 drawn on the server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over dbClassSql: one shared connection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content security policy</a:t>
            </a:r>
            <a:endParaRPr lang="en-US" sz="1300" dirty="0"/>
          </a:p>
        </p:txBody>
      </p:sp>
      <p:sp>
        <p:nvSpPr>
          <p:cNvPr id="10" name="Arrow 2"/>
          <p:cNvSpPr/>
          <p:nvPr/>
        </p:nvSpPr>
        <p:spPr>
          <a:xfrm>
            <a:off x="7891272" y="3017520"/>
            <a:ext cx="228600" cy="365760"/>
          </a:xfrm>
          <a:prstGeom prst="rightArrow">
            <a:avLst/>
          </a:prstGeom>
          <a:solidFill>
            <a:srgbClr val="566872"/>
          </a:solidFill>
          <a:ln w="12700">
            <a:solidFill>
              <a:srgbClr val="566872"/>
            </a:solidFill>
            <a:prstDash val="solid"/>
          </a:ln>
        </p:spPr>
      </p:sp>
      <p:sp>
        <p:nvSpPr>
          <p:cNvPr id="11" name="SQL Server box"/>
          <p:cNvSpPr/>
          <p:nvPr/>
        </p:nvSpPr>
        <p:spPr>
          <a:xfrm>
            <a:off x="8138160" y="1280160"/>
            <a:ext cx="3520440" cy="393192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2" name="SQL Server head"/>
          <p:cNvSpPr txBox="1"/>
          <p:nvPr/>
        </p:nvSpPr>
        <p:spPr>
          <a:xfrm>
            <a:off x="8339328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13" name="SQL Server text"/>
          <p:cNvSpPr txBox="1"/>
          <p:nvPr/>
        </p:nvSpPr>
        <p:spPr>
          <a:xfrm>
            <a:off x="8339328" y="192024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SwProjectRegister: entries, figures, estimate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SwProjectLog: history of each entry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tables and their audit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for yearly totals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01 to 07 to install and import</a:t>
            </a:r>
            <a:endParaRPr lang="en-US" sz="1300" dirty="0"/>
          </a:p>
        </p:txBody>
      </p:sp>
      <p:sp>
        <p:nvSpPr>
          <p:cNvPr id="14" name="Offline note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at any point: no CDN, no web fonts, no outside calls. Deployed on an intranet IIS server; published from Visual Studio.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costs are worked out</a:t>
            </a:r>
            <a:endParaRPr lang="en-US" sz="3000" dirty="0"/>
          </a:p>
        </p:txBody>
      </p:sp>
      <p:sp>
        <p:nvSpPr>
          <p:cNvPr id="3" name="Inputs card"/>
          <p:cNvSpPr/>
          <p:nvPr/>
        </p:nvSpPr>
        <p:spPr>
          <a:xfrm>
            <a:off x="548640" y="1280160"/>
            <a:ext cx="3566160" cy="338328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4" name="Inputs head"/>
          <p:cNvSpPr txBox="1"/>
          <p:nvPr/>
        </p:nvSpPr>
        <p:spPr>
          <a:xfrm>
            <a:off x="749808" y="14447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800" dirty="0"/>
          </a:p>
        </p:txBody>
      </p:sp>
      <p:sp>
        <p:nvSpPr>
          <p:cNvPr id="5" name="Inputs sub"/>
          <p:cNvSpPr txBox="1"/>
          <p:nvPr/>
        </p:nvSpPr>
        <p:spPr>
          <a:xfrm>
            <a:off x="749808" y="182880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or from Excel</a:t>
            </a:r>
            <a:endParaRPr lang="en-US" sz="1200" dirty="0"/>
          </a:p>
        </p:txBody>
      </p:sp>
      <p:sp>
        <p:nvSpPr>
          <p:cNvPr id="6" name="Inputs text"/>
          <p:cNvSpPr txBox="1"/>
          <p:nvPr/>
        </p:nvSpPr>
        <p:spPr>
          <a:xfrm>
            <a:off x="749808" y="2194560"/>
            <a:ext cx="3163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people, level, days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or cloud, storage, GPU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operating system, other licences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(AMC) and years of ownership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quantity x rate, per year or once</a:t>
            </a:r>
            <a:endParaRPr lang="en-US" sz="1300" dirty="0"/>
          </a:p>
        </p:txBody>
      </p:sp>
      <p:sp>
        <p:nvSpPr>
          <p:cNvPr id="7" name="Bases card"/>
          <p:cNvSpPr/>
          <p:nvPr/>
        </p:nvSpPr>
        <p:spPr>
          <a:xfrm>
            <a:off x="4297680" y="1280160"/>
            <a:ext cx="3566160" cy="338328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8" name="Bases head"/>
          <p:cNvSpPr txBox="1"/>
          <p:nvPr/>
        </p:nvSpPr>
        <p:spPr>
          <a:xfrm>
            <a:off x="4498848" y="14447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prices</a:t>
            </a:r>
            <a:endParaRPr lang="en-US" sz="1800" dirty="0"/>
          </a:p>
        </p:txBody>
      </p:sp>
      <p:sp>
        <p:nvSpPr>
          <p:cNvPr id="9" name="Bases sub"/>
          <p:cNvSpPr txBox="1"/>
          <p:nvPr/>
        </p:nvSpPr>
        <p:spPr>
          <a:xfrm>
            <a:off x="4498848" y="182880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work, two cost bases</a:t>
            </a:r>
            <a:endParaRPr lang="en-US" sz="1200" dirty="0"/>
          </a:p>
        </p:txBody>
      </p:sp>
      <p:sp>
        <p:nvSpPr>
          <p:cNvPr id="10" name="Bases text"/>
          <p:cNvSpPr txBox="1"/>
          <p:nvPr/>
        </p:nvSpPr>
        <p:spPr>
          <a:xfrm>
            <a:off x="4498848" y="2194560"/>
            <a:ext cx="3163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Automation: internal rates, actual purchase prices, own loadings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company: market rates, higher loadings and mark-up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= the difference: an avoided price, not cash</a:t>
            </a:r>
            <a:endParaRPr lang="en-US" sz="1300" dirty="0"/>
          </a:p>
        </p:txBody>
      </p:sp>
      <p:sp>
        <p:nvSpPr>
          <p:cNvPr id="11" name="Outputs card"/>
          <p:cNvSpPr/>
          <p:nvPr/>
        </p:nvSpPr>
        <p:spPr>
          <a:xfrm>
            <a:off x="8046720" y="1280160"/>
            <a:ext cx="3566160" cy="338328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2" name="Outputs head"/>
          <p:cNvSpPr txBox="1"/>
          <p:nvPr/>
        </p:nvSpPr>
        <p:spPr>
          <a:xfrm>
            <a:off x="8247888" y="14447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800" dirty="0"/>
          </a:p>
        </p:txBody>
      </p:sp>
      <p:sp>
        <p:nvSpPr>
          <p:cNvPr id="13" name="Outputs sub"/>
          <p:cNvSpPr txBox="1"/>
          <p:nvPr/>
        </p:nvSpPr>
        <p:spPr>
          <a:xfrm>
            <a:off x="8247888" y="182880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with the entry</a:t>
            </a:r>
            <a:endParaRPr lang="en-US" sz="1200" dirty="0"/>
          </a:p>
        </p:txBody>
      </p:sp>
      <p:sp>
        <p:nvSpPr>
          <p:cNvPr id="14" name="Outputs text"/>
          <p:cNvSpPr txBox="1"/>
          <p:nvPr/>
        </p:nvSpPr>
        <p:spPr>
          <a:xfrm>
            <a:off x="8247888" y="2194560"/>
            <a:ext cx="3163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cost, yearly running cost, total over the years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Person-days and team size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created, return and payback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of the rates used, so a master change never alters it silently</a:t>
            </a:r>
            <a:endParaRPr lang="en-US" sz="1300" dirty="0"/>
          </a:p>
        </p:txBody>
      </p:sp>
      <p:sp>
        <p:nvSpPr>
          <p:cNvPr id="15" name="Recalc note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master change, Approval &gt; Recalculate applies the new rates to chosen entries (preview first, every change written to the history).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3000" dirty="0"/>
          </a:p>
        </p:txBody>
      </p:sp>
      <p:graphicFrame>
        <p:nvGraphicFramePr>
          <p:cNvPr id="7" name="Heal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7040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E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E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E7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and security headers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libraries local; strict content security policy; no inline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 from 360 to 2,560 px; dark theme; report readable on phones and tablets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5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in v10; every estimator open still loads every saved estimate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and 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5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history, but deleting an entry deletes its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5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estimator.js is one large file; one shared database connection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and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34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1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shared password: no real names, approval rules cannot be enforced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34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1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tests exist but are not in the project or run before releases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in v10</a:t>
            </a:r>
            <a:endParaRPr lang="en-US" sz="3000" dirty="0"/>
          </a:p>
        </p:txBody>
      </p:sp>
      <p:sp>
        <p:nvSpPr>
          <p:cNvPr id="3" name="Opt 1"/>
          <p:cNvSpPr/>
          <p:nvPr/>
        </p:nvSpPr>
        <p:spPr>
          <a:xfrm>
            <a:off x="548640" y="1280160"/>
            <a:ext cx="3566160" cy="310896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4" name="Opt label 1"/>
          <p:cNvSpPr txBox="1"/>
          <p:nvPr/>
        </p:nvSpPr>
        <p:spPr>
          <a:xfrm>
            <a:off x="77724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REFRESH</a:t>
            </a:r>
            <a:endParaRPr lang="en-US" sz="1200" dirty="0"/>
          </a:p>
        </p:txBody>
      </p:sp>
      <p:sp>
        <p:nvSpPr>
          <p:cNvPr id="5" name="Opt value 1"/>
          <p:cNvSpPr txBox="1"/>
          <p:nvPr/>
        </p:nvSpPr>
        <p:spPr>
          <a:xfrm>
            <a:off x="777240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bytes</a:t>
            </a:r>
            <a:endParaRPr lang="en-US" sz="3000" dirty="0"/>
          </a:p>
        </p:txBody>
      </p:sp>
      <p:sp>
        <p:nvSpPr>
          <p:cNvPr id="6" name="Opt sub 1"/>
          <p:cNvSpPr txBox="1"/>
          <p:nvPr/>
        </p:nvSpPr>
        <p:spPr>
          <a:xfrm>
            <a:off x="77724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0.4 to 0.8 MB</a:t>
            </a:r>
            <a:endParaRPr lang="en-US" sz="1400" dirty="0"/>
          </a:p>
        </p:txBody>
      </p:sp>
      <p:sp>
        <p:nvSpPr>
          <p:cNvPr id="7" name="Opt text 1"/>
          <p:cNvSpPr txBox="1"/>
          <p:nvPr/>
        </p:nvSpPr>
        <p:spPr>
          <a:xfrm>
            <a:off x="777240" y="30175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 estimator tab refreshed the whole register each minute. Now the server answers "unchanged" when nothing changed.</a:t>
            </a:r>
            <a:endParaRPr lang="en-US" sz="1300" dirty="0"/>
          </a:p>
        </p:txBody>
      </p:sp>
      <p:sp>
        <p:nvSpPr>
          <p:cNvPr id="8" name="Opt 2"/>
          <p:cNvSpPr/>
          <p:nvPr/>
        </p:nvSpPr>
        <p:spPr>
          <a:xfrm>
            <a:off x="4297680" y="1280160"/>
            <a:ext cx="3566160" cy="310896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9" name="Opt label 2"/>
          <p:cNvSpPr txBox="1"/>
          <p:nvPr/>
        </p:nvSpPr>
        <p:spPr>
          <a:xfrm>
            <a:off x="452628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</a:t>
            </a:r>
            <a:endParaRPr lang="en-US" sz="1200" dirty="0"/>
          </a:p>
        </p:txBody>
      </p:sp>
      <p:sp>
        <p:nvSpPr>
          <p:cNvPr id="10" name="Opt value 2"/>
          <p:cNvSpPr txBox="1"/>
          <p:nvPr/>
        </p:nvSpPr>
        <p:spPr>
          <a:xfrm>
            <a:off x="4526280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KB less</a:t>
            </a:r>
            <a:endParaRPr lang="en-US" sz="3000" dirty="0"/>
          </a:p>
        </p:txBody>
      </p:sp>
      <p:sp>
        <p:nvSpPr>
          <p:cNvPr id="11" name="Opt sub 2"/>
          <p:cNvSpPr txBox="1"/>
          <p:nvPr/>
        </p:nvSpPr>
        <p:spPr>
          <a:xfrm>
            <a:off x="452628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report opens</a:t>
            </a:r>
            <a:endParaRPr lang="en-US" sz="1400" dirty="0"/>
          </a:p>
        </p:txBody>
      </p:sp>
      <p:sp>
        <p:nvSpPr>
          <p:cNvPr id="12" name="Opt text 2"/>
          <p:cNvSpPr txBox="1"/>
          <p:nvPr/>
        </p:nvSpPr>
        <p:spPr>
          <a:xfrm>
            <a:off x="4526280" y="30175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 libraries and the estimator load on the first PDF click, once, instead of with every visit.</a:t>
            </a:r>
            <a:endParaRPr lang="en-US" sz="1300" dirty="0"/>
          </a:p>
        </p:txBody>
      </p:sp>
      <p:sp>
        <p:nvSpPr>
          <p:cNvPr id="13" name="Opt 3"/>
          <p:cNvSpPr/>
          <p:nvPr/>
        </p:nvSpPr>
        <p:spPr>
          <a:xfrm>
            <a:off x="8046720" y="1280160"/>
            <a:ext cx="3566160" cy="310896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4" name="Opt label 3"/>
          <p:cNvSpPr txBox="1"/>
          <p:nvPr/>
        </p:nvSpPr>
        <p:spPr>
          <a:xfrm>
            <a:off x="827532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200" dirty="0"/>
          </a:p>
        </p:txBody>
      </p:sp>
      <p:sp>
        <p:nvSpPr>
          <p:cNvPr id="15" name="Opt value 3"/>
          <p:cNvSpPr txBox="1"/>
          <p:nvPr/>
        </p:nvSpPr>
        <p:spPr>
          <a:xfrm>
            <a:off x="8275320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10 x smaller</a:t>
            </a:r>
            <a:endParaRPr lang="en-US" sz="3000" dirty="0"/>
          </a:p>
        </p:txBody>
      </p:sp>
      <p:sp>
        <p:nvSpPr>
          <p:cNvPr id="16" name="Opt sub 3"/>
          <p:cNvSpPr txBox="1"/>
          <p:nvPr/>
        </p:nvSpPr>
        <p:spPr>
          <a:xfrm>
            <a:off x="827532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scripts and data</a:t>
            </a:r>
            <a:endParaRPr lang="en-US" sz="1400" dirty="0"/>
          </a:p>
        </p:txBody>
      </p:sp>
      <p:sp>
        <p:nvSpPr>
          <p:cNvPr id="17" name="Opt text 3"/>
          <p:cNvSpPr txBox="1"/>
          <p:nvPr/>
        </p:nvSpPr>
        <p:spPr>
          <a:xfrm>
            <a:off x="8275320" y="30175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on in Web.config. Needs the IIS feature "Dynamic Content Compression" for the API.</a:t>
            </a:r>
            <a:endParaRPr lang="en-US" sz="1300" dirty="0"/>
          </a:p>
        </p:txBody>
      </p:sp>
      <p:sp>
        <p:nvSpPr>
          <p:cNvPr id="18" name="Tested note"/>
          <p:cNvSpPr txBox="1"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the browser: the refresh sends and honours the signature; the report opens without the libraries and the first PDF click loads them and downloads the PDF; earlier tests still pass.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Now box"/>
          <p:cNvSpPr/>
          <p:nvPr/>
        </p:nvSpPr>
        <p:spPr>
          <a:xfrm>
            <a:off x="548640" y="1280160"/>
            <a:ext cx="3566160" cy="356616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4" name="Now head"/>
          <p:cNvSpPr txBox="1"/>
          <p:nvPr/>
        </p:nvSpPr>
        <p:spPr>
          <a:xfrm>
            <a:off x="77724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34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2400" dirty="0"/>
          </a:p>
        </p:txBody>
      </p:sp>
      <p:sp>
        <p:nvSpPr>
          <p:cNvPr id="5" name="Now when"/>
          <p:cNvSpPr txBox="1"/>
          <p:nvPr/>
        </p:nvSpPr>
        <p:spPr>
          <a:xfrm>
            <a:off x="2651760" y="153619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300" dirty="0"/>
          </a:p>
        </p:txBody>
      </p:sp>
      <p:sp>
        <p:nvSpPr>
          <p:cNvPr id="6" name="Now text"/>
          <p:cNvSpPr txBox="1"/>
          <p:nvPr/>
        </p:nvSpPr>
        <p:spPr>
          <a:xfrm>
            <a:off x="777240" y="201168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and a long shared password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Dynamic Content Compression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browser tests to the project; run them before each release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backup and a tested restore</a:t>
            </a:r>
            <a:endParaRPr lang="en-US" sz="1400" dirty="0"/>
          </a:p>
        </p:txBody>
      </p:sp>
      <p:sp>
        <p:nvSpPr>
          <p:cNvPr id="7" name="Next box"/>
          <p:cNvSpPr/>
          <p:nvPr/>
        </p:nvSpPr>
        <p:spPr>
          <a:xfrm>
            <a:off x="4297680" y="1280160"/>
            <a:ext cx="3566160" cy="356616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8" name="Next head"/>
          <p:cNvSpPr txBox="1"/>
          <p:nvPr/>
        </p:nvSpPr>
        <p:spPr>
          <a:xfrm>
            <a:off x="45262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8A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400" dirty="0"/>
          </a:p>
        </p:txBody>
      </p:sp>
      <p:sp>
        <p:nvSpPr>
          <p:cNvPr id="9" name="Next when"/>
          <p:cNvSpPr txBox="1"/>
          <p:nvPr/>
        </p:nvSpPr>
        <p:spPr>
          <a:xfrm>
            <a:off x="6400800" y="153619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300" dirty="0"/>
          </a:p>
        </p:txBody>
      </p:sp>
      <p:sp>
        <p:nvSpPr>
          <p:cNvPr id="10" name="Next text"/>
          <p:cNvSpPr txBox="1"/>
          <p:nvPr/>
        </p:nvSpPr>
        <p:spPr>
          <a:xfrm>
            <a:off x="4526280" y="201168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AD sign-in: real names, real approval rules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 estimate only when it is opened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cache for static files with a version in the URL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deletions; sort and choose columns in the report</a:t>
            </a:r>
            <a:endParaRPr lang="en-US" sz="1400" dirty="0"/>
          </a:p>
        </p:txBody>
      </p:sp>
      <p:sp>
        <p:nvSpPr>
          <p:cNvPr id="11" name="Later box"/>
          <p:cNvSpPr/>
          <p:nvPr/>
        </p:nvSpPr>
        <p:spPr>
          <a:xfrm>
            <a:off x="8046720" y="1280160"/>
            <a:ext cx="3566160" cy="356616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2" name="Later head"/>
          <p:cNvSpPr txBox="1"/>
          <p:nvPr/>
        </p:nvSpPr>
        <p:spPr>
          <a:xfrm>
            <a:off x="82753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2400" dirty="0"/>
          </a:p>
        </p:txBody>
      </p:sp>
      <p:sp>
        <p:nvSpPr>
          <p:cNvPr id="13" name="Later when"/>
          <p:cNvSpPr txBox="1"/>
          <p:nvPr/>
        </p:nvSpPr>
        <p:spPr>
          <a:xfrm>
            <a:off x="10149840" y="153619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300" dirty="0"/>
          </a:p>
        </p:txBody>
      </p:sp>
      <p:sp>
        <p:nvSpPr>
          <p:cNvPr id="14" name="Later text"/>
          <p:cNvSpPr txBox="1"/>
          <p:nvPr/>
        </p:nvSpPr>
        <p:spPr>
          <a:xfrm>
            <a:off x="8275320" y="201168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estimator.js into modules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connection per request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benefits as numbers (time per run, runs a year, ₹)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 shared with the server for checks and reports</a:t>
            </a:r>
            <a:endParaRPr lang="en-US" sz="1400" dirty="0"/>
          </a:p>
        </p:txBody>
      </p:sp>
      <p:sp>
        <p:nvSpPr>
          <p:cNvPr id="15" name="Review link"/>
          <p:cNvSpPr txBox="1"/>
          <p:nvPr/>
        </p:nvSpPr>
        <p:spPr>
          <a:xfrm>
            <a:off x="548640" y="5029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Details, reasons and effort for each item: docs/REVIEW_v10.md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Automation estimate and quotation: site overview (v10)</dc:title>
  <dc:subject>PptxGenJS Presentation</dc:subject>
  <dc:creator>Central Automation</dc:creator>
  <cp:lastModifiedBy>Central Automation</cp:lastModifiedBy>
  <cp:revision>1</cp:revision>
  <dcterms:created xsi:type="dcterms:W3CDTF">2026-10-29T17:06:39Z</dcterms:created>
  <dcterms:modified xsi:type="dcterms:W3CDTF">2026-10-29T17:06:39Z</dcterms:modified>
</cp:coreProperties>
</file>